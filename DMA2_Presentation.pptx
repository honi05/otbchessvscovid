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5143500" cx="9144000"/>
  <p:notesSz cx="6858000" cy="9144000"/>
  <p:embeddedFontLst>
    <p:embeddedFont>
      <p:font typeface="Source Sans 3"/>
      <p:regular r:id="rId21"/>
      <p:bold r:id="rId22"/>
      <p:italic r:id="rId23"/>
      <p:boldItalic r:id="rId24"/>
    </p:embeddedFont>
    <p:embeddedFont>
      <p:font typeface="Source Serif 4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6DA42C7-B1F0-4C58-B3E5-453CB04D3C1B}">
  <a:tblStyle styleId="{D6DA42C7-B1F0-4C58-B3E5-453CB04D3C1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font" Target="fonts/SourceSans3-bold.fntdata"/><Relationship Id="rId21" Type="http://schemas.openxmlformats.org/officeDocument/2006/relationships/font" Target="fonts/SourceSans3-regular.fntdata"/><Relationship Id="rId24" Type="http://schemas.openxmlformats.org/officeDocument/2006/relationships/font" Target="fonts/SourceSans3-boldItalic.fntdata"/><Relationship Id="rId23" Type="http://schemas.openxmlformats.org/officeDocument/2006/relationships/font" Target="fonts/SourceSans3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SourceSerif4-bold.fntdata"/><Relationship Id="rId25" Type="http://schemas.openxmlformats.org/officeDocument/2006/relationships/font" Target="fonts/SourceSerif4-regular.fntdata"/><Relationship Id="rId28" Type="http://schemas.openxmlformats.org/officeDocument/2006/relationships/font" Target="fonts/SourceSerif4-boldItalic.fntdata"/><Relationship Id="rId27" Type="http://schemas.openxmlformats.org/officeDocument/2006/relationships/font" Target="fonts/SourceSerif4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Title slide. Research question: did over-the-board chess recover after COVID-19? Thesis project for Data Management and Analysis, Sapienza.</a:t>
            </a:r>
            <a:endParaRPr sz="900"/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" name="Google Shape;24;p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Online chess boomed during lockdowns while over-the-board tournaments were cancelled. This sets up the research question.</a:t>
            </a:r>
            <a:endParaRPr sz="900"/>
          </a:p>
        </p:txBody>
      </p:sp>
      <p:sp>
        <p:nvSpPr>
          <p:cNvPr id="25" name="Google Shape;25;p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" name="Google Shape;45;p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A quick primer for non-chess audiences: FIDE is the governing body, the Elo rating is a single strength number, over-the-board means in-person tournament play, and an active player is one rated and not flagged inactive. Most players sit between roughly 1400 and 2100.</a:t>
            </a:r>
            <a:endParaRPr sz="900"/>
          </a:p>
        </p:txBody>
      </p:sp>
      <p:sp>
        <p:nvSpPr>
          <p:cNvPr id="46" name="Google Shape;46;p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4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4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2.5 million raw records reduced to 1.17 million active rated players, then enriched into a 15-variable analysis dataset.</a:t>
            </a:r>
            <a:endParaRPr sz="900"/>
          </a:p>
        </p:txBody>
      </p:sp>
      <p:sp>
        <p:nvSpPr>
          <p:cNvPr id="90" name="Google Shape;90;p4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Source is FIDE Standard Rating Lists. Seven monthly snapshots span the baseline, pre-COVID, COVID and post-COVID periods.</a:t>
            </a:r>
            <a:endParaRPr sz="900"/>
          </a:p>
        </p:txBody>
      </p:sp>
      <p:sp>
        <p:nvSpPr>
          <p:cNvPr id="144" name="Google Shape;144;p5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6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6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Share of active players who played a rated game collapsed from 32.1% pre-COVID to 3.9% during, recovering only to 24.7% by 2026. Chi-square 90,418, p&lt;.001, Cramér's V 0.29.</a:t>
            </a:r>
            <a:endParaRPr sz="900"/>
          </a:p>
        </p:txBody>
      </p:sp>
      <p:sp>
        <p:nvSpPr>
          <p:cNvPr id="161" name="Google Shape;161;p6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7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8" name="Google Shape;178;p7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K-means clustering on rating, activity and age. The elbow method shows a clear bend at k=4 — four meaningful player segments.</a:t>
            </a:r>
            <a:endParaRPr sz="900"/>
          </a:p>
        </p:txBody>
      </p:sp>
      <p:sp>
        <p:nvSpPr>
          <p:cNvPr id="179" name="Google Shape;179;p7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8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8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The four clusters: Inactive and Young, Inactive Seniors, Competitive Core, and Strong but Inactive. Only the Competitive Core drives most over-the-board participation.</a:t>
            </a:r>
            <a:endParaRPr sz="900"/>
          </a:p>
        </p:txBody>
      </p:sp>
      <p:sp>
        <p:nvSpPr>
          <p:cNvPr id="197" name="Google Shape;197;p8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1" name="Google Shape;251;p9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Segment share by period. The competitive core (cluster 3) nearly disappears during COVID and returns afterward, while the other three segments stay broadly stable.</a:t>
            </a:r>
            <a:endParaRPr sz="900"/>
          </a:p>
        </p:txBody>
      </p:sp>
      <p:sp>
        <p:nvSpPr>
          <p:cNvPr id="252" name="Google Shape;252;p9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ec7c8b8feb_2_1:notes"/>
          <p:cNvSpPr/>
          <p:nvPr>
            <p:ph idx="2" type="sldImg"/>
          </p:nvPr>
        </p:nvSpPr>
        <p:spPr>
          <a:xfrm>
            <a:off x="457200" y="571500"/>
            <a:ext cx="3657600" cy="15432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9" name="Google Shape;269;g3ec7c8b8feb_2_1:notes"/>
          <p:cNvSpPr txBox="1"/>
          <p:nvPr>
            <p:ph idx="1" type="body"/>
          </p:nvPr>
        </p:nvSpPr>
        <p:spPr>
          <a:xfrm>
            <a:off x="457200" y="2200275"/>
            <a:ext cx="3657600" cy="18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Segment share by period. The competitive core (cluster 3) nearly disappears during COVID and returns afterward, while the other three segments stay broadly stable.</a:t>
            </a:r>
            <a:endParaRPr sz="900"/>
          </a:p>
        </p:txBody>
      </p:sp>
      <p:sp>
        <p:nvSpPr>
          <p:cNvPr id="270" name="Google Shape;270;g3ec7c8b8feb_2_1:notes"/>
          <p:cNvSpPr txBox="1"/>
          <p:nvPr>
            <p:ph idx="12" type="sldNum"/>
          </p:nvPr>
        </p:nvSpPr>
        <p:spPr>
          <a:xfrm>
            <a:off x="2589742" y="4342607"/>
            <a:ext cx="1981200" cy="229500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10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7" name="Google Shape;287;p10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Active players grew about 88% since 2015, even through the COVID dip — from 115,546 to 217,459.</a:t>
            </a:r>
            <a:endParaRPr sz="900"/>
          </a:p>
        </p:txBody>
      </p:sp>
      <p:sp>
        <p:nvSpPr>
          <p:cNvPr id="288" name="Google Shape;288;p10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1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8" name="Google Shape;308;p11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A bigger 2026 pool comes with lower average ratings. Mean rating falls from 1799 to 1737, Welch's t-test p&lt;.001, as new lower-rated players join.</a:t>
            </a:r>
            <a:endParaRPr sz="900"/>
          </a:p>
        </p:txBody>
      </p:sp>
      <p:sp>
        <p:nvSpPr>
          <p:cNvPr id="309" name="Google Shape;309;p11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12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1" name="Google Shape;331;p12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Summary: participation collapsed then partially recovered; COVID had a real moderate effect; the pool nearly doubled while ratings fell; a structural shift toward casual players. Bottom line: chess grew in size, not engagement.</a:t>
            </a:r>
            <a:endParaRPr sz="900"/>
          </a:p>
        </p:txBody>
      </p:sp>
      <p:sp>
        <p:nvSpPr>
          <p:cNvPr id="332" name="Google Shape;332;p12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3:notes"/>
          <p:cNvSpPr/>
          <p:nvPr>
            <p:ph idx="2" type="sldImg"/>
          </p:nvPr>
        </p:nvSpPr>
        <p:spPr>
          <a:xfrm>
            <a:off x="457200" y="571500"/>
            <a:ext cx="3657600" cy="15430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1" name="Google Shape;371;p13:notes"/>
          <p:cNvSpPr txBox="1"/>
          <p:nvPr>
            <p:ph idx="1" type="body"/>
          </p:nvPr>
        </p:nvSpPr>
        <p:spPr>
          <a:xfrm>
            <a:off x="457200" y="2200275"/>
            <a:ext cx="3657600" cy="1800225"/>
          </a:xfrm>
          <a:prstGeom prst="rect">
            <a:avLst/>
          </a:prstGeom>
          <a:noFill/>
          <a:ln>
            <a:noFill/>
          </a:ln>
        </p:spPr>
        <p:txBody>
          <a:bodyPr anchorCtr="0" anchor="t" bIns="27925" lIns="55875" spcFirstLastPara="1" rIns="55875" wrap="square" tIns="279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it" sz="900"/>
              <a:t>Thank you for the attention.</a:t>
            </a:r>
            <a:endParaRPr sz="900"/>
          </a:p>
        </p:txBody>
      </p:sp>
      <p:sp>
        <p:nvSpPr>
          <p:cNvPr id="372" name="Google Shape;372;p13:notes"/>
          <p:cNvSpPr txBox="1"/>
          <p:nvPr>
            <p:ph idx="12" type="sldNum"/>
          </p:nvPr>
        </p:nvSpPr>
        <p:spPr>
          <a:xfrm>
            <a:off x="2589742" y="4342607"/>
            <a:ext cx="1981200" cy="229393"/>
          </a:xfrm>
          <a:prstGeom prst="rect">
            <a:avLst/>
          </a:prstGeom>
          <a:noFill/>
          <a:ln>
            <a:noFill/>
          </a:ln>
        </p:spPr>
        <p:txBody>
          <a:bodyPr anchorCtr="0" anchor="b" bIns="27925" lIns="55875" spcFirstLastPara="1" rIns="55875" wrap="square" tIns="27925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fld id="{00000000-1234-1234-1234-123412341234}" type="slidenum">
              <a:rPr b="0" i="0" lang="it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Relationship Id="rId4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9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/>
          <p:nvPr/>
        </p:nvSpPr>
        <p:spPr>
          <a:xfrm>
            <a:off x="562475" y="1485997"/>
            <a:ext cx="4807200" cy="7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2700"/>
              <a:buFont typeface="Source Serif 4"/>
              <a:buNone/>
            </a:pPr>
            <a:r>
              <a:rPr b="1" i="0" lang="it" sz="27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Did over-the-board chess recover after COVID-19?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3"/>
          <p:cNvSpPr/>
          <p:nvPr/>
        </p:nvSpPr>
        <p:spPr>
          <a:xfrm>
            <a:off x="562475" y="2455166"/>
            <a:ext cx="571500" cy="9600"/>
          </a:xfrm>
          <a:prstGeom prst="rect">
            <a:avLst/>
          </a:prstGeom>
          <a:solidFill>
            <a:srgbClr val="E2DDD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" name="Google Shape;14;p3"/>
          <p:cNvSpPr/>
          <p:nvPr/>
        </p:nvSpPr>
        <p:spPr>
          <a:xfrm>
            <a:off x="562475" y="2636141"/>
            <a:ext cx="59721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900"/>
              <a:buFont typeface="Source Sans 3"/>
              <a:buNone/>
            </a:pPr>
            <a:r>
              <a:rPr b="1" i="0" lang="it" sz="1200" u="none" cap="none" strike="noStrike">
                <a:solidFill>
                  <a:srgbClr val="1D1A1B"/>
                </a:solidFill>
                <a:latin typeface="Source Sans 3"/>
                <a:ea typeface="Source Sans 3"/>
                <a:cs typeface="Source Sans 3"/>
                <a:sym typeface="Source Sans 3"/>
              </a:rPr>
              <a:t>Honi Arora </a:t>
            </a:r>
            <a:r>
              <a:rPr b="0" i="0" lang="it" sz="12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· FIDE Master · 2162860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3"/>
          <p:cNvSpPr/>
          <p:nvPr/>
        </p:nvSpPr>
        <p:spPr>
          <a:xfrm>
            <a:off x="562475" y="2850450"/>
            <a:ext cx="4663800" cy="3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800"/>
              <a:buFont typeface="Source Sans 3"/>
              <a:buNone/>
            </a:pPr>
            <a:r>
              <a:rPr b="0" i="0" lang="it" sz="11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Bachelor's Degree in Applied Computer Science and Artificial Intelligence</a:t>
            </a:r>
            <a:endParaRPr b="0" i="0" sz="1100" u="none" cap="none" strike="noStrike">
              <a:solidFill>
                <a:srgbClr val="6B636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800"/>
              <a:buFont typeface="Source Sans 3"/>
              <a:buNone/>
            </a:pPr>
            <a:r>
              <a:rPr b="0" i="0" lang="it" sz="11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Management And Analysis Unit 2</a:t>
            </a:r>
            <a:endParaRPr b="0" i="0" sz="1100" u="none" cap="none" strike="noStrike">
              <a:solidFill>
                <a:srgbClr val="6B636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800"/>
              <a:buFont typeface="Source Sans 3"/>
              <a:buNone/>
            </a:pPr>
            <a:r>
              <a:t/>
            </a:r>
            <a:endParaRPr b="0" i="0" sz="1100" u="none" cap="none" strike="noStrike">
              <a:solidFill>
                <a:srgbClr val="6B636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800"/>
              <a:buFont typeface="Source Sans 3"/>
              <a:buNone/>
            </a:pPr>
            <a:r>
              <a:t/>
            </a:r>
            <a:endParaRPr b="0" i="0" sz="1100" u="none" cap="none" strike="noStrike">
              <a:solidFill>
                <a:srgbClr val="6B6360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16" name="Google Shape;16;p3"/>
          <p:cNvSpPr/>
          <p:nvPr/>
        </p:nvSpPr>
        <p:spPr>
          <a:xfrm>
            <a:off x="6477000" y="0"/>
            <a:ext cx="2667000" cy="5143500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" name="Google Shape;17;p3"/>
          <p:cNvSpPr/>
          <p:nvPr/>
        </p:nvSpPr>
        <p:spPr>
          <a:xfrm>
            <a:off x="7453425" y="1863225"/>
            <a:ext cx="714300" cy="714300"/>
          </a:xfrm>
          <a:prstGeom prst="ellipse">
            <a:avLst/>
          </a:prstGeom>
          <a:solidFill>
            <a:srgbClr val="FFFFFF"/>
          </a:solidFill>
          <a:ln>
            <a:noFill/>
          </a:ln>
          <a:effectLst>
            <a:outerShdw blurRad="419100" rotWithShape="0" algn="bl" dir="5400000" dist="190500">
              <a:srgbClr val="000000">
                <a:alpha val="5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descr="preencoded.png" id="18" name="Google Shape;18;p3"/>
          <p:cNvSpPr/>
          <p:nvPr/>
        </p:nvSpPr>
        <p:spPr>
          <a:xfrm>
            <a:off x="7453313" y="1863105"/>
            <a:ext cx="714300" cy="714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3"/>
          <p:cNvSpPr/>
          <p:nvPr/>
        </p:nvSpPr>
        <p:spPr>
          <a:xfrm>
            <a:off x="6848075" y="2915623"/>
            <a:ext cx="1984800" cy="758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Source Serif 4"/>
              <a:buNone/>
            </a:pPr>
            <a:r>
              <a:rPr b="1" i="0" lang="it" sz="27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Sapienza</a:t>
            </a:r>
            <a:endParaRPr b="0" i="0" sz="27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7003585" y="3249745"/>
            <a:ext cx="1673700" cy="185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0D0D5"/>
              </a:buClr>
              <a:buSzPts val="900"/>
              <a:buFont typeface="Source Sans 3"/>
              <a:buNone/>
            </a:pPr>
            <a:r>
              <a:rPr b="0" i="0" lang="it" sz="1400" u="none" cap="none" strike="noStrike">
                <a:solidFill>
                  <a:srgbClr val="F0D0D5"/>
                </a:solidFill>
                <a:latin typeface="Source Sans 3"/>
                <a:ea typeface="Source Sans 3"/>
                <a:cs typeface="Source Sans 3"/>
                <a:sym typeface="Source Sans 3"/>
              </a:rPr>
              <a:t>UNIVERSITÀ DI ROMA</a:t>
            </a:r>
            <a:endParaRPr b="0" i="0" sz="1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1" name="Google Shape;21;p3" title="Screenshot 2026-06-11 144216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453325" y="1840975"/>
            <a:ext cx="714300" cy="7585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571500" y="445294"/>
            <a:ext cx="142875" cy="14288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" name="Google Shape;28;p4"/>
          <p:cNvSpPr/>
          <p:nvPr/>
        </p:nvSpPr>
        <p:spPr>
          <a:xfrm>
            <a:off x="781050" y="400050"/>
            <a:ext cx="84622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MOTIVATION · 01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4"/>
          <p:cNvSpPr/>
          <p:nvPr/>
        </p:nvSpPr>
        <p:spPr>
          <a:xfrm>
            <a:off x="571500" y="590550"/>
            <a:ext cx="6475095" cy="5737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2000"/>
              <a:buFont typeface="Source Serif 4"/>
              <a:buNone/>
            </a:pPr>
            <a:r>
              <a:rPr b="1" i="0" lang="it" sz="2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Online vs Over The Board Chess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"/>
          <p:cNvSpPr/>
          <p:nvPr/>
        </p:nvSpPr>
        <p:spPr>
          <a:xfrm>
            <a:off x="571500" y="1411923"/>
            <a:ext cx="6831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525" lIns="15525" spcFirstLastPara="1" rIns="15525" wrap="square" tIns="1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2446"/>
              <a:buFont typeface="Source Serif 4"/>
              <a:buNone/>
            </a:pPr>
            <a:r>
              <a:rPr b="1" i="0" lang="it" sz="2446" u="none" cap="none" strike="noStrike">
                <a:solidFill>
                  <a:srgbClr val="8A1E2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30M</a:t>
            </a:r>
            <a:endParaRPr b="0" i="0" sz="24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/>
          <p:nvPr/>
        </p:nvSpPr>
        <p:spPr>
          <a:xfrm>
            <a:off x="1312927" y="1499290"/>
            <a:ext cx="2211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525" lIns="15525" spcFirstLastPara="1" rIns="15525" wrap="square" tIns="1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0A7"/>
              </a:buClr>
              <a:buSzPts val="1345"/>
              <a:buFont typeface="Source Serif 4"/>
              <a:buNone/>
            </a:pPr>
            <a:r>
              <a:rPr b="1" i="0" lang="it" sz="1345" u="none" cap="none" strike="noStrike">
                <a:solidFill>
                  <a:srgbClr val="C9A0A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→</a:t>
            </a:r>
            <a:endParaRPr b="0" i="0" sz="13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4"/>
          <p:cNvSpPr/>
          <p:nvPr/>
        </p:nvSpPr>
        <p:spPr>
          <a:xfrm>
            <a:off x="1592498" y="1411923"/>
            <a:ext cx="889800" cy="33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5525" lIns="15525" spcFirstLastPara="1" rIns="15525" wrap="square" tIns="1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2446"/>
              <a:buFont typeface="Source Serif 4"/>
              <a:buNone/>
            </a:pPr>
            <a:r>
              <a:rPr b="1" i="0" lang="it" sz="2446" u="none" cap="none" strike="noStrike">
                <a:solidFill>
                  <a:srgbClr val="8A1E2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150M</a:t>
            </a:r>
            <a:endParaRPr b="0" i="0" sz="2446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4"/>
          <p:cNvSpPr/>
          <p:nvPr/>
        </p:nvSpPr>
        <p:spPr>
          <a:xfrm>
            <a:off x="571500" y="1819634"/>
            <a:ext cx="3119700" cy="390300"/>
          </a:xfrm>
          <a:prstGeom prst="rect">
            <a:avLst/>
          </a:prstGeom>
          <a:noFill/>
          <a:ln>
            <a:noFill/>
          </a:ln>
        </p:spPr>
        <p:txBody>
          <a:bodyPr anchorCtr="0" anchor="t" bIns="15525" lIns="15525" spcFirstLastPara="1" rIns="15525" wrap="square" tIns="155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536"/>
              </a:buClr>
              <a:buSzPts val="978"/>
              <a:buFont typeface="Source Sans 3"/>
              <a:buNone/>
            </a:pPr>
            <a:r>
              <a:rPr b="0" i="0" lang="it" sz="978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Chess.com users grew five-fold from 2020 to 2023. Fast online formats came to dominate the market.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4"/>
          <p:cNvSpPr/>
          <p:nvPr/>
        </p:nvSpPr>
        <p:spPr>
          <a:xfrm>
            <a:off x="571500" y="2396253"/>
            <a:ext cx="4391700" cy="60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55925" lIns="55925" spcFirstLastPara="1" rIns="55925" wrap="square" tIns="55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" name="Google Shape;35;p4"/>
          <p:cNvSpPr/>
          <p:nvPr/>
        </p:nvSpPr>
        <p:spPr>
          <a:xfrm>
            <a:off x="571500" y="2611758"/>
            <a:ext cx="4830900" cy="2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525" lIns="15525" spcFirstLastPara="1" rIns="15525" wrap="square" tIns="155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345"/>
              <a:buFont typeface="Source Serif 4"/>
              <a:buNone/>
            </a:pPr>
            <a:r>
              <a:rPr b="1" i="0" lang="it" sz="1345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FIDE over-the-board play fell sharply</a:t>
            </a:r>
            <a:endParaRPr b="0" i="0" sz="134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4"/>
          <p:cNvSpPr/>
          <p:nvPr/>
        </p:nvSpPr>
        <p:spPr>
          <a:xfrm>
            <a:off x="571500" y="2932102"/>
            <a:ext cx="3119700" cy="57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525" lIns="15525" spcFirstLastPara="1" rIns="15525" wrap="square" tIns="155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536"/>
              </a:buClr>
              <a:buSzPts val="978"/>
              <a:buFont typeface="Source Sans 3"/>
              <a:buNone/>
            </a:pPr>
            <a:r>
              <a:rPr b="0" i="0" lang="it" sz="978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Official tournaments managed by the International Chess Federation were cancelled, and ratings show a steep drop through the period.</a:t>
            </a:r>
            <a:endParaRPr b="0" i="0" sz="97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3982300" y="1411923"/>
            <a:ext cx="4590000" cy="2094000"/>
          </a:xfrm>
          <a:prstGeom prst="roundRect">
            <a:avLst>
              <a:gd fmla="val 5063" name="adj"/>
            </a:avLst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8" name="Google Shape;38;p4"/>
          <p:cNvSpPr/>
          <p:nvPr/>
        </p:nvSpPr>
        <p:spPr>
          <a:xfrm>
            <a:off x="4302250" y="1797745"/>
            <a:ext cx="3950100" cy="214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2C8"/>
              </a:buClr>
              <a:buSzPts val="600"/>
              <a:buFont typeface="Source Sans 3"/>
              <a:buNone/>
            </a:pPr>
            <a:r>
              <a:rPr b="1" i="0" lang="it" sz="1100" u="none" cap="none" strike="noStrike">
                <a:solidFill>
                  <a:srgbClr val="E9C2C8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RESEARCH QUESTION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"/>
          <p:cNvSpPr/>
          <p:nvPr/>
        </p:nvSpPr>
        <p:spPr>
          <a:xfrm>
            <a:off x="4309825" y="2029650"/>
            <a:ext cx="41133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Source Serif 4"/>
              <a:buNone/>
            </a:pPr>
            <a:r>
              <a:rPr b="0" i="0" lang="it" sz="20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Has competitive chess recovered after COVID-19 and how has the player pool changed?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"/>
          <p:cNvSpPr/>
          <p:nvPr/>
        </p:nvSpPr>
        <p:spPr>
          <a:xfrm>
            <a:off x="571500" y="4781550"/>
            <a:ext cx="8001000" cy="4763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p4"/>
          <p:cNvSpPr/>
          <p:nvPr/>
        </p:nvSpPr>
        <p:spPr>
          <a:xfrm>
            <a:off x="571500" y="4852988"/>
            <a:ext cx="2045487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A59C9A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over-the-board chess recover after COVID-19? — Honi Arora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"/>
          <p:cNvSpPr/>
          <p:nvPr/>
        </p:nvSpPr>
        <p:spPr>
          <a:xfrm>
            <a:off x="8499202" y="4852988"/>
            <a:ext cx="111398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02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5"/>
          <p:cNvSpPr/>
          <p:nvPr/>
        </p:nvSpPr>
        <p:spPr>
          <a:xfrm>
            <a:off x="571500" y="445294"/>
            <a:ext cx="142875" cy="14288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781050" y="400050"/>
            <a:ext cx="846222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MOTIVATION · 02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"/>
          <p:cNvSpPr/>
          <p:nvPr/>
        </p:nvSpPr>
        <p:spPr>
          <a:xfrm>
            <a:off x="571500" y="590550"/>
            <a:ext cx="7019925" cy="29639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2000"/>
              <a:buFont typeface="Source Serif 4"/>
              <a:buNone/>
            </a:pPr>
            <a:r>
              <a:rPr b="1" i="0" lang="it" sz="2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FIDE Ratings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5"/>
          <p:cNvSpPr/>
          <p:nvPr/>
        </p:nvSpPr>
        <p:spPr>
          <a:xfrm>
            <a:off x="571500" y="1099804"/>
            <a:ext cx="2453700" cy="1140600"/>
          </a:xfrm>
          <a:prstGeom prst="roundRect">
            <a:avLst>
              <a:gd fmla="val 8562" name="adj"/>
            </a:avLst>
          </a:prstGeom>
          <a:solidFill>
            <a:srgbClr val="FFFFFF"/>
          </a:solidFill>
          <a:ln cap="flat" cmpd="sng" w="12200">
            <a:solidFill>
              <a:srgbClr val="E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8600" lIns="58600" spcFirstLastPara="1" rIns="58600" wrap="square" tIns="5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50"/>
              <a:buFont typeface="Arial"/>
              <a:buNone/>
            </a:pPr>
            <a:r>
              <a:t/>
            </a:r>
            <a:endParaRPr b="0" i="0" sz="20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5"/>
          <p:cNvSpPr/>
          <p:nvPr/>
        </p:nvSpPr>
        <p:spPr>
          <a:xfrm>
            <a:off x="577603" y="1105907"/>
            <a:ext cx="2441400" cy="24600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58600" lIns="58600" spcFirstLastPara="1" rIns="58600" wrap="square" tIns="58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94"/>
              <a:buFont typeface="Arial"/>
              <a:buNone/>
            </a:pPr>
            <a:r>
              <a:t/>
            </a:r>
            <a:endParaRPr b="0" i="0" sz="1794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5"/>
          <p:cNvSpPr/>
          <p:nvPr/>
        </p:nvSpPr>
        <p:spPr>
          <a:xfrm>
            <a:off x="736292" y="1301214"/>
            <a:ext cx="2336400" cy="1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75" lIns="16275" spcFirstLastPara="1" rIns="16275" wrap="square" tIns="162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41"/>
              <a:buFont typeface="Source Sans 3"/>
              <a:buNone/>
            </a:pPr>
            <a:r>
              <a:rPr b="1" i="0" lang="it" sz="10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FIDE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5"/>
          <p:cNvSpPr/>
          <p:nvPr/>
        </p:nvSpPr>
        <p:spPr>
          <a:xfrm>
            <a:off x="736292" y="1496521"/>
            <a:ext cx="2336400" cy="1884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75" lIns="16275" spcFirstLastPara="1" rIns="16275" wrap="square" tIns="16275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153"/>
              <a:buFont typeface="Source Serif 4"/>
              <a:buNone/>
            </a:pPr>
            <a:r>
              <a:rPr b="1" i="0" lang="it" sz="1153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Chess's governing body</a:t>
            </a:r>
            <a:endParaRPr b="0" i="0" sz="11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5"/>
          <p:cNvSpPr/>
          <p:nvPr/>
        </p:nvSpPr>
        <p:spPr>
          <a:xfrm>
            <a:off x="736292" y="1733788"/>
            <a:ext cx="2187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16275" lIns="16275" spcFirstLastPara="1" rIns="16275" wrap="square" tIns="162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557"/>
              </a:buClr>
              <a:buSzPts val="897"/>
              <a:buFont typeface="Source Sans 3"/>
              <a:buNone/>
            </a:pPr>
            <a:r>
              <a:rPr b="0" i="0" lang="it" sz="897" u="none" cap="none" strike="noStrike">
                <a:solidFill>
                  <a:srgbClr val="5A5557"/>
                </a:solidFill>
                <a:latin typeface="Source Sans 3"/>
                <a:ea typeface="Source Sans 3"/>
                <a:cs typeface="Source Sans 3"/>
                <a:sym typeface="Source Sans 3"/>
              </a:rPr>
              <a:t>Runs official over-the-board tournaments and maintains the world rating list.</a:t>
            </a:r>
            <a:endParaRPr b="0" i="0" sz="8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" name="Google Shape;56;p5"/>
          <p:cNvSpPr/>
          <p:nvPr/>
        </p:nvSpPr>
        <p:spPr>
          <a:xfrm>
            <a:off x="3321500" y="1084200"/>
            <a:ext cx="2520600" cy="1171800"/>
          </a:xfrm>
          <a:prstGeom prst="roundRect">
            <a:avLst>
              <a:gd fmla="val 8562" name="adj"/>
            </a:avLst>
          </a:prstGeom>
          <a:solidFill>
            <a:srgbClr val="FFFFFF"/>
          </a:solidFill>
          <a:ln cap="flat" cmpd="sng" w="12550">
            <a:solidFill>
              <a:srgbClr val="E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60200" lIns="60200" spcFirstLastPara="1" rIns="60200" wrap="square" tIns="60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3"/>
              <a:buFont typeface="Arial"/>
              <a:buNone/>
            </a:pPr>
            <a:r>
              <a:t/>
            </a:r>
            <a:endParaRPr b="0" i="0" sz="18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5"/>
          <p:cNvSpPr/>
          <p:nvPr/>
        </p:nvSpPr>
        <p:spPr>
          <a:xfrm>
            <a:off x="3327770" y="1090470"/>
            <a:ext cx="2508000" cy="25200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60200" lIns="60200" spcFirstLastPara="1" rIns="60200" wrap="square" tIns="602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43"/>
              <a:buFont typeface="Arial"/>
              <a:buNone/>
            </a:pPr>
            <a:r>
              <a:t/>
            </a:r>
            <a:endParaRPr b="0" i="0" sz="1843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5"/>
          <p:cNvSpPr/>
          <p:nvPr/>
        </p:nvSpPr>
        <p:spPr>
          <a:xfrm>
            <a:off x="3490794" y="1291113"/>
            <a:ext cx="2400300" cy="15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00" lIns="16700" spcFirstLastPara="1" rIns="16700" wrap="square" tIns="16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58"/>
              <a:buFont typeface="Source Sans 3"/>
              <a:buNone/>
            </a:pPr>
            <a:r>
              <a:rPr b="1" i="0" lang="it" sz="10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ELO RATING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" name="Google Shape;59;p5"/>
          <p:cNvSpPr/>
          <p:nvPr/>
        </p:nvSpPr>
        <p:spPr>
          <a:xfrm>
            <a:off x="3490794" y="1491756"/>
            <a:ext cx="2400300" cy="1935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00" lIns="16700" spcFirstLastPara="1" rIns="16700" wrap="square" tIns="16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185"/>
              <a:buFont typeface="Source Serif 4"/>
              <a:buNone/>
            </a:pPr>
            <a:r>
              <a:rPr b="1" i="0" lang="it" sz="1185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Strength as a number</a:t>
            </a:r>
            <a:endParaRPr b="0" i="0" sz="118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"/>
          <p:cNvSpPr/>
          <p:nvPr/>
        </p:nvSpPr>
        <p:spPr>
          <a:xfrm>
            <a:off x="3490794" y="1735506"/>
            <a:ext cx="2247600" cy="36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700" lIns="16700" spcFirstLastPara="1" rIns="16700" wrap="square" tIns="16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557"/>
              </a:buClr>
              <a:buSzPts val="922"/>
              <a:buFont typeface="Source Sans 3"/>
              <a:buNone/>
            </a:pPr>
            <a:r>
              <a:rPr b="0" i="0" lang="it" sz="922" u="none" cap="none" strike="noStrike">
                <a:solidFill>
                  <a:srgbClr val="5A5557"/>
                </a:solidFill>
                <a:latin typeface="Source Sans 3"/>
                <a:ea typeface="Source Sans 3"/>
                <a:cs typeface="Source Sans 3"/>
                <a:sym typeface="Source Sans 3"/>
              </a:rPr>
              <a:t>Updated after every rated game — a win nudges it up, a loss down.</a:t>
            </a:r>
            <a:endParaRPr b="0" i="0" sz="92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"/>
          <p:cNvSpPr/>
          <p:nvPr/>
        </p:nvSpPr>
        <p:spPr>
          <a:xfrm>
            <a:off x="571500" y="4781550"/>
            <a:ext cx="8001000" cy="4763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p5"/>
          <p:cNvSpPr/>
          <p:nvPr/>
        </p:nvSpPr>
        <p:spPr>
          <a:xfrm>
            <a:off x="571500" y="4852988"/>
            <a:ext cx="2045487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A59C9A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over-the-board chess recover after COVID-19? — Honi Arora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3" name="Google Shape;63;p5"/>
          <p:cNvSpPr/>
          <p:nvPr/>
        </p:nvSpPr>
        <p:spPr>
          <a:xfrm>
            <a:off x="8499202" y="4852988"/>
            <a:ext cx="111398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03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5"/>
          <p:cNvSpPr/>
          <p:nvPr/>
        </p:nvSpPr>
        <p:spPr>
          <a:xfrm>
            <a:off x="577600" y="2825850"/>
            <a:ext cx="19560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500"/>
              <a:buFont typeface="Source Sans 3"/>
              <a:buNone/>
            </a:pPr>
            <a:r>
              <a:rPr b="1" i="0" lang="it" sz="11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ELO RATING SCALE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5"/>
          <p:cNvSpPr/>
          <p:nvPr/>
        </p:nvSpPr>
        <p:spPr>
          <a:xfrm>
            <a:off x="7838552" y="2816330"/>
            <a:ext cx="814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600"/>
              <a:buFont typeface="Source Sans 3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5"/>
          <p:cNvSpPr/>
          <p:nvPr/>
        </p:nvSpPr>
        <p:spPr>
          <a:xfrm>
            <a:off x="577600" y="2997305"/>
            <a:ext cx="1778100" cy="76200"/>
          </a:xfrm>
          <a:prstGeom prst="rect">
            <a:avLst/>
          </a:prstGeom>
          <a:solidFill>
            <a:srgbClr val="F3D8D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7" name="Google Shape;67;p5"/>
          <p:cNvSpPr/>
          <p:nvPr/>
        </p:nvSpPr>
        <p:spPr>
          <a:xfrm>
            <a:off x="2355575" y="2997305"/>
            <a:ext cx="1778100" cy="76200"/>
          </a:xfrm>
          <a:prstGeom prst="rect">
            <a:avLst/>
          </a:prstGeom>
          <a:solidFill>
            <a:srgbClr val="E0A8A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5"/>
          <p:cNvSpPr/>
          <p:nvPr/>
        </p:nvSpPr>
        <p:spPr>
          <a:xfrm>
            <a:off x="4133625" y="2997305"/>
            <a:ext cx="1333500" cy="76200"/>
          </a:xfrm>
          <a:prstGeom prst="rect">
            <a:avLst/>
          </a:prstGeom>
          <a:solidFill>
            <a:srgbClr val="CC818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5"/>
          <p:cNvSpPr/>
          <p:nvPr/>
        </p:nvSpPr>
        <p:spPr>
          <a:xfrm>
            <a:off x="5467125" y="2997305"/>
            <a:ext cx="1333500" cy="76200"/>
          </a:xfrm>
          <a:prstGeom prst="rect">
            <a:avLst/>
          </a:prstGeom>
          <a:solidFill>
            <a:srgbClr val="B15662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5"/>
          <p:cNvSpPr/>
          <p:nvPr/>
        </p:nvSpPr>
        <p:spPr>
          <a:xfrm>
            <a:off x="6800625" y="2997305"/>
            <a:ext cx="1778100" cy="76200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p5"/>
          <p:cNvSpPr/>
          <p:nvPr/>
        </p:nvSpPr>
        <p:spPr>
          <a:xfrm>
            <a:off x="577600" y="3140180"/>
            <a:ext cx="19557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800"/>
              <a:buFont typeface="Source Serif 4"/>
              <a:buNone/>
            </a:pPr>
            <a:r>
              <a:rPr b="1" i="0" lang="it" sz="13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≈1000–1400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"/>
          <p:cNvSpPr/>
          <p:nvPr/>
        </p:nvSpPr>
        <p:spPr>
          <a:xfrm>
            <a:off x="577600" y="3292580"/>
            <a:ext cx="1955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600"/>
              <a:buFont typeface="Source Sans 3"/>
              <a:buNone/>
            </a:pPr>
            <a:r>
              <a:rPr b="0" i="0" lang="it" sz="9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Beginner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5"/>
          <p:cNvSpPr/>
          <p:nvPr/>
        </p:nvSpPr>
        <p:spPr>
          <a:xfrm>
            <a:off x="2355575" y="3140180"/>
            <a:ext cx="19560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800"/>
              <a:buFont typeface="Source Serif 4"/>
              <a:buNone/>
            </a:pPr>
            <a:r>
              <a:rPr b="1" i="0" lang="it" sz="13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≈1400–1800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5"/>
          <p:cNvSpPr/>
          <p:nvPr/>
        </p:nvSpPr>
        <p:spPr>
          <a:xfrm>
            <a:off x="2355575" y="3292580"/>
            <a:ext cx="19560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600"/>
              <a:buFont typeface="Source Sans 3"/>
              <a:buNone/>
            </a:pPr>
            <a:r>
              <a:rPr b="0" i="0" lang="it" sz="9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Club player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5" name="Google Shape;75;p5"/>
          <p:cNvSpPr/>
          <p:nvPr/>
        </p:nvSpPr>
        <p:spPr>
          <a:xfrm>
            <a:off x="4133625" y="3140180"/>
            <a:ext cx="14670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800"/>
              <a:buFont typeface="Source Serif 4"/>
              <a:buNone/>
            </a:pPr>
            <a:r>
              <a:rPr b="1" i="0" lang="it" sz="13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≈1800–2100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" name="Google Shape;76;p5"/>
          <p:cNvSpPr/>
          <p:nvPr/>
        </p:nvSpPr>
        <p:spPr>
          <a:xfrm>
            <a:off x="4133625" y="3292580"/>
            <a:ext cx="14670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600"/>
              <a:buFont typeface="Source Sans 3"/>
              <a:buNone/>
            </a:pPr>
            <a:r>
              <a:rPr b="0" i="0" lang="it" sz="9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Expert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5"/>
          <p:cNvSpPr/>
          <p:nvPr/>
        </p:nvSpPr>
        <p:spPr>
          <a:xfrm>
            <a:off x="5467125" y="3140180"/>
            <a:ext cx="14670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800"/>
              <a:buFont typeface="Source Serif 4"/>
              <a:buNone/>
            </a:pPr>
            <a:r>
              <a:rPr b="1" i="0" lang="it" sz="13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≈2100–2400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5"/>
          <p:cNvSpPr/>
          <p:nvPr/>
        </p:nvSpPr>
        <p:spPr>
          <a:xfrm>
            <a:off x="5467125" y="3292580"/>
            <a:ext cx="14670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600"/>
              <a:buFont typeface="Source Sans 3"/>
              <a:buNone/>
            </a:pPr>
            <a:r>
              <a:rPr b="0" i="0" lang="it" sz="9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Master · FM / IM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5"/>
          <p:cNvSpPr/>
          <p:nvPr/>
        </p:nvSpPr>
        <p:spPr>
          <a:xfrm>
            <a:off x="6800625" y="3140180"/>
            <a:ext cx="1955700" cy="1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800"/>
              <a:buFont typeface="Source Serif 4"/>
              <a:buNone/>
            </a:pPr>
            <a:r>
              <a:rPr b="1" i="0" lang="it" sz="13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2500+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"/>
          <p:cNvSpPr/>
          <p:nvPr/>
        </p:nvSpPr>
        <p:spPr>
          <a:xfrm>
            <a:off x="6800625" y="3292580"/>
            <a:ext cx="19557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600"/>
              <a:buFont typeface="Source Sans 3"/>
              <a:buNone/>
            </a:pPr>
            <a:r>
              <a:rPr b="0" i="0" lang="it" sz="9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Grandmaster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"/>
          <p:cNvSpPr/>
          <p:nvPr/>
        </p:nvSpPr>
        <p:spPr>
          <a:xfrm>
            <a:off x="577600" y="3492605"/>
            <a:ext cx="88011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600"/>
              <a:buFont typeface="Source Sans 3"/>
              <a:buNone/>
            </a:pPr>
            <a:r>
              <a:rPr b="0" i="0" lang="it" sz="1100" u="none" cap="none" strike="noStrike">
                <a:solidFill>
                  <a:schemeClr val="dk1"/>
                </a:solidFill>
                <a:latin typeface="Source Sans 3"/>
                <a:ea typeface="Source Sans 3"/>
                <a:cs typeface="Source Sans 3"/>
                <a:sym typeface="Source Sans 3"/>
              </a:rPr>
              <a:t>Most rated players — and this study's average of ≈1750 — sit in the club-to-expert range.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2" name="Google Shape;82;p5"/>
          <p:cNvSpPr/>
          <p:nvPr/>
        </p:nvSpPr>
        <p:spPr>
          <a:xfrm>
            <a:off x="6138400" y="1095304"/>
            <a:ext cx="2472600" cy="1149600"/>
          </a:xfrm>
          <a:prstGeom prst="roundRect">
            <a:avLst>
              <a:gd fmla="val 8562" name="adj"/>
            </a:avLst>
          </a:prstGeom>
          <a:solidFill>
            <a:srgbClr val="FFFFFF"/>
          </a:solidFill>
          <a:ln cap="flat" cmpd="sng" w="12300">
            <a:solidFill>
              <a:srgbClr val="E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5"/>
          <p:cNvSpPr/>
          <p:nvPr/>
        </p:nvSpPr>
        <p:spPr>
          <a:xfrm>
            <a:off x="6144551" y="1101454"/>
            <a:ext cx="2460300" cy="24900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59050" lIns="59050" spcFirstLastPara="1" rIns="59050" wrap="square" tIns="590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6304470" y="1298277"/>
            <a:ext cx="2354400" cy="1476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00" lIns="16400" spcFirstLastPara="1" rIns="16400" wrap="square" tIns="164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41"/>
              <a:buFont typeface="Source Sans 3"/>
              <a:buNone/>
            </a:pPr>
            <a:r>
              <a:rPr b="1" i="0" lang="it" sz="10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OVER-THE-BOARD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6304470" y="1495100"/>
            <a:ext cx="2354400" cy="1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00" lIns="16400" spcFirstLastPara="1" rIns="16400" wrap="square" tIns="164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153"/>
              <a:buFont typeface="Source Serif 4"/>
              <a:buNone/>
            </a:pPr>
            <a:r>
              <a:rPr b="1" i="0" lang="it" sz="1153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Played in person</a:t>
            </a:r>
            <a:endParaRPr b="0" i="0" sz="11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6304470" y="1734209"/>
            <a:ext cx="2204700" cy="356700"/>
          </a:xfrm>
          <a:prstGeom prst="rect">
            <a:avLst/>
          </a:prstGeom>
          <a:noFill/>
          <a:ln>
            <a:noFill/>
          </a:ln>
        </p:spPr>
        <p:txBody>
          <a:bodyPr anchorCtr="0" anchor="t" bIns="16400" lIns="16400" spcFirstLastPara="1" rIns="16400" wrap="square" tIns="164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5A5557"/>
              </a:buClr>
              <a:buSzPts val="897"/>
              <a:buFont typeface="Source Sans 3"/>
              <a:buNone/>
            </a:pPr>
            <a:r>
              <a:rPr b="0" i="0" lang="it" sz="897" u="none" cap="none" strike="noStrike">
                <a:solidFill>
                  <a:srgbClr val="5A5557"/>
                </a:solidFill>
                <a:latin typeface="Source Sans 3"/>
                <a:ea typeface="Source Sans 3"/>
                <a:cs typeface="Source Sans 3"/>
                <a:sym typeface="Source Sans 3"/>
              </a:rPr>
              <a:t>Real games at a physical board and tournament — not online. This study's focus.</a:t>
            </a:r>
            <a:endParaRPr b="0" i="0" sz="897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/>
          <p:nvPr/>
        </p:nvSpPr>
        <p:spPr>
          <a:xfrm>
            <a:off x="571500" y="445294"/>
            <a:ext cx="142800" cy="14400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6"/>
          <p:cNvSpPr/>
          <p:nvPr/>
        </p:nvSpPr>
        <p:spPr>
          <a:xfrm>
            <a:off x="781050" y="400050"/>
            <a:ext cx="4704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· 01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6"/>
          <p:cNvSpPr/>
          <p:nvPr/>
        </p:nvSpPr>
        <p:spPr>
          <a:xfrm>
            <a:off x="571500" y="590550"/>
            <a:ext cx="64752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2000"/>
              <a:buFont typeface="Source Serif 4"/>
              <a:buNone/>
            </a:pPr>
            <a:r>
              <a:rPr b="1" i="0" lang="it" sz="2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Data Preprocessing 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6"/>
          <p:cNvSpPr/>
          <p:nvPr/>
        </p:nvSpPr>
        <p:spPr>
          <a:xfrm>
            <a:off x="566513" y="2519418"/>
            <a:ext cx="2346300" cy="1324500"/>
          </a:xfrm>
          <a:prstGeom prst="roundRect">
            <a:avLst>
              <a:gd fmla="val 6473" name="adj"/>
            </a:avLst>
          </a:prstGeom>
          <a:solidFill>
            <a:srgbClr val="FCFBFB"/>
          </a:solidFill>
          <a:ln cap="flat" cmpd="sng" w="9525">
            <a:solidFill>
              <a:srgbClr val="E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p6"/>
          <p:cNvSpPr/>
          <p:nvPr/>
        </p:nvSpPr>
        <p:spPr>
          <a:xfrm>
            <a:off x="761775" y="2733731"/>
            <a:ext cx="21513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COMBINED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6"/>
          <p:cNvSpPr/>
          <p:nvPr/>
        </p:nvSpPr>
        <p:spPr>
          <a:xfrm>
            <a:off x="761775" y="2919468"/>
            <a:ext cx="2151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900"/>
              <a:buFont typeface="Source Serif 4"/>
              <a:buNone/>
            </a:pPr>
            <a:r>
              <a:rPr b="1" i="0" lang="it" sz="19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2,534,904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6"/>
          <p:cNvSpPr/>
          <p:nvPr/>
        </p:nvSpPr>
        <p:spPr>
          <a:xfrm>
            <a:off x="761775" y="3243318"/>
            <a:ext cx="1955700" cy="38100"/>
          </a:xfrm>
          <a:prstGeom prst="roundRect">
            <a:avLst>
              <a:gd fmla="val 50000" name="adj"/>
            </a:avLst>
          </a:prstGeom>
          <a:solidFill>
            <a:srgbClr val="EFE6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p6"/>
          <p:cNvSpPr/>
          <p:nvPr/>
        </p:nvSpPr>
        <p:spPr>
          <a:xfrm>
            <a:off x="761775" y="3243318"/>
            <a:ext cx="1955700" cy="38100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6"/>
          <p:cNvSpPr/>
          <p:nvPr/>
        </p:nvSpPr>
        <p:spPr>
          <a:xfrm>
            <a:off x="761775" y="3367143"/>
            <a:ext cx="20145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700"/>
              <a:buFont typeface="Source Sans 3"/>
              <a:buNone/>
            </a:pPr>
            <a:r>
              <a:rPr b="0" i="0" lang="it" sz="9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All 7 FIDE rating-list snapshots merged into one dataset of player records.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6"/>
          <p:cNvSpPr/>
          <p:nvPr/>
        </p:nvSpPr>
        <p:spPr>
          <a:xfrm>
            <a:off x="3074713" y="3072091"/>
            <a:ext cx="200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0A7"/>
              </a:buClr>
              <a:buSzPts val="1300"/>
              <a:buFont typeface="Source Serif 4"/>
              <a:buNone/>
            </a:pPr>
            <a:r>
              <a:rPr b="0" i="0" lang="it" sz="1300" u="none" cap="none" strike="noStrike">
                <a:solidFill>
                  <a:srgbClr val="C9A0A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6"/>
          <p:cNvSpPr/>
          <p:nvPr/>
        </p:nvSpPr>
        <p:spPr>
          <a:xfrm>
            <a:off x="3398563" y="2519418"/>
            <a:ext cx="2346300" cy="1324500"/>
          </a:xfrm>
          <a:prstGeom prst="roundRect">
            <a:avLst>
              <a:gd fmla="val 6473" name="adj"/>
            </a:avLst>
          </a:prstGeom>
          <a:solidFill>
            <a:srgbClr val="FCFBFB"/>
          </a:solidFill>
          <a:ln cap="flat" cmpd="sng" w="9525">
            <a:solidFill>
              <a:srgbClr val="E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6"/>
          <p:cNvSpPr/>
          <p:nvPr/>
        </p:nvSpPr>
        <p:spPr>
          <a:xfrm>
            <a:off x="3593825" y="2733731"/>
            <a:ext cx="21513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CLEANED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4" name="Google Shape;104;p6"/>
          <p:cNvSpPr/>
          <p:nvPr/>
        </p:nvSpPr>
        <p:spPr>
          <a:xfrm>
            <a:off x="3593825" y="2919468"/>
            <a:ext cx="2151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900"/>
              <a:buFont typeface="Source Serif 4"/>
              <a:buNone/>
            </a:pPr>
            <a:r>
              <a:rPr b="1" i="0" lang="it" sz="19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1,166,786 </a:t>
            </a:r>
            <a:r>
              <a:rPr b="0" i="0" lang="it" sz="900" u="none" cap="none" strike="noStrike">
                <a:solidFill>
                  <a:srgbClr val="9A929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~46%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6"/>
          <p:cNvSpPr/>
          <p:nvPr/>
        </p:nvSpPr>
        <p:spPr>
          <a:xfrm>
            <a:off x="3593825" y="3243318"/>
            <a:ext cx="1955700" cy="38100"/>
          </a:xfrm>
          <a:prstGeom prst="roundRect">
            <a:avLst>
              <a:gd fmla="val 50000" name="adj"/>
            </a:avLst>
          </a:prstGeom>
          <a:solidFill>
            <a:srgbClr val="EFE6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3593825" y="3243318"/>
            <a:ext cx="899700" cy="38100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3593825" y="3367150"/>
            <a:ext cx="21513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700"/>
              <a:buFont typeface="Source Sans 3"/>
              <a:buNone/>
            </a:pPr>
            <a:r>
              <a:rPr b="0" i="0" lang="it" sz="9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Removed Inactive players, those who had zero tournament games in past 12+ months.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5906838" y="3072091"/>
            <a:ext cx="200100" cy="2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0A7"/>
              </a:buClr>
              <a:buSzPts val="1300"/>
              <a:buFont typeface="Source Serif 4"/>
              <a:buNone/>
            </a:pPr>
            <a:r>
              <a:rPr b="0" i="0" lang="it" sz="1300" u="none" cap="none" strike="noStrike">
                <a:solidFill>
                  <a:srgbClr val="C9A0A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→</a:t>
            </a:r>
            <a:endParaRPr b="0" i="0" sz="13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6"/>
          <p:cNvSpPr/>
          <p:nvPr/>
        </p:nvSpPr>
        <p:spPr>
          <a:xfrm>
            <a:off x="6230688" y="2524181"/>
            <a:ext cx="2336700" cy="1314900"/>
          </a:xfrm>
          <a:prstGeom prst="roundRect">
            <a:avLst>
              <a:gd fmla="val 6520" name="adj"/>
            </a:avLst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0" name="Google Shape;110;p6"/>
          <p:cNvSpPr/>
          <p:nvPr/>
        </p:nvSpPr>
        <p:spPr>
          <a:xfrm>
            <a:off x="6421188" y="2733731"/>
            <a:ext cx="21513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2C8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E9C2C8"/>
                </a:solidFill>
                <a:latin typeface="Source Sans 3"/>
                <a:ea typeface="Source Sans 3"/>
                <a:cs typeface="Source Sans 3"/>
                <a:sym typeface="Source Sans 3"/>
              </a:rPr>
              <a:t>ENRICHED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6421188" y="2919468"/>
            <a:ext cx="2151300" cy="257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900"/>
              <a:buFont typeface="Source Serif 4"/>
              <a:buNone/>
            </a:pPr>
            <a:r>
              <a:rPr b="1" i="0" lang="it" sz="19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1,166,786 </a:t>
            </a:r>
            <a:r>
              <a:rPr b="0" i="0" lang="it" sz="1100" u="none" cap="none" strike="noStrike">
                <a:solidFill>
                  <a:srgbClr val="E9C2C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× 15 colms</a:t>
            </a:r>
            <a:endParaRPr b="0" i="0" sz="1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6"/>
          <p:cNvSpPr/>
          <p:nvPr/>
        </p:nvSpPr>
        <p:spPr>
          <a:xfrm>
            <a:off x="6421188" y="3243318"/>
            <a:ext cx="1955700" cy="38100"/>
          </a:xfrm>
          <a:prstGeom prst="roundRect">
            <a:avLst>
              <a:gd fmla="val 50000" name="adj"/>
            </a:avLst>
          </a:prstGeom>
          <a:solidFill>
            <a:srgbClr val="FFFFFF">
              <a:alpha val="21960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6"/>
          <p:cNvSpPr/>
          <p:nvPr/>
        </p:nvSpPr>
        <p:spPr>
          <a:xfrm>
            <a:off x="6421188" y="3243318"/>
            <a:ext cx="899700" cy="381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6421200" y="3367150"/>
            <a:ext cx="2346300" cy="281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Clr>
                <a:srgbClr val="F0D6DA"/>
              </a:buClr>
              <a:buSzPts val="700"/>
              <a:buFont typeface="Source Sans 3"/>
              <a:buNone/>
            </a:pPr>
            <a:r>
              <a:rPr b="0" i="0" lang="it" sz="900" u="none" cap="none" strike="noStrike">
                <a:solidFill>
                  <a:srgbClr val="F0D6DA"/>
                </a:solidFill>
                <a:latin typeface="Source Sans 3"/>
                <a:ea typeface="Source Sans 3"/>
                <a:cs typeface="Source Sans 3"/>
                <a:sym typeface="Source Sans 3"/>
              </a:rPr>
              <a:t>Added COVID period, age, title status and monthly activity indicators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6"/>
          <p:cNvSpPr/>
          <p:nvPr/>
        </p:nvSpPr>
        <p:spPr>
          <a:xfrm>
            <a:off x="571500" y="4781550"/>
            <a:ext cx="8001000" cy="48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6"/>
          <p:cNvSpPr/>
          <p:nvPr/>
        </p:nvSpPr>
        <p:spPr>
          <a:xfrm>
            <a:off x="571500" y="4852988"/>
            <a:ext cx="20454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A59C9A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over-the-board chess recover after COVID-19? — Honi Arora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8499202" y="4852988"/>
            <a:ext cx="1113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04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6"/>
          <p:cNvSpPr/>
          <p:nvPr/>
        </p:nvSpPr>
        <p:spPr>
          <a:xfrm>
            <a:off x="566525" y="1699196"/>
            <a:ext cx="7182300" cy="14400"/>
          </a:xfrm>
          <a:prstGeom prst="rect">
            <a:avLst/>
          </a:prstGeom>
          <a:solidFill>
            <a:srgbClr val="E2DDDC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6"/>
          <p:cNvSpPr/>
          <p:nvPr/>
        </p:nvSpPr>
        <p:spPr>
          <a:xfrm>
            <a:off x="571502" y="1437300"/>
            <a:ext cx="615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000"/>
              <a:buFont typeface="Source Serif 4"/>
              <a:buNone/>
            </a:pPr>
            <a:r>
              <a:rPr b="1" i="0" lang="it" sz="1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2015-02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6"/>
          <p:cNvSpPr/>
          <p:nvPr/>
        </p:nvSpPr>
        <p:spPr>
          <a:xfrm>
            <a:off x="747679" y="1661050"/>
            <a:ext cx="95400" cy="95400"/>
          </a:xfrm>
          <a:prstGeom prst="ellipse">
            <a:avLst/>
          </a:prstGeom>
          <a:solidFill>
            <a:srgbClr val="9AA0A6"/>
          </a:solidFill>
          <a:ln>
            <a:noFill/>
          </a:ln>
          <a:effectLst>
            <a:outerShdw blurRad="101600" rotWithShape="0" algn="bl" dir="16200000" dist="50800">
              <a:srgbClr val="FFFFFF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6"/>
          <p:cNvSpPr/>
          <p:nvPr/>
        </p:nvSpPr>
        <p:spPr>
          <a:xfrm>
            <a:off x="647915" y="1894488"/>
            <a:ext cx="3333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Baseline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6"/>
          <p:cNvSpPr/>
          <p:nvPr/>
        </p:nvSpPr>
        <p:spPr>
          <a:xfrm>
            <a:off x="1700875" y="1437300"/>
            <a:ext cx="557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000"/>
              <a:buFont typeface="Source Serif 4"/>
              <a:buNone/>
            </a:pPr>
            <a:r>
              <a:rPr b="1" i="0" lang="it" sz="1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2019-01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/>
          <p:nvPr/>
        </p:nvSpPr>
        <p:spPr>
          <a:xfrm>
            <a:off x="1877161" y="1653838"/>
            <a:ext cx="95400" cy="95400"/>
          </a:xfrm>
          <a:prstGeom prst="ellipse">
            <a:avLst/>
          </a:prstGeom>
          <a:solidFill>
            <a:srgbClr val="1F4E79"/>
          </a:solidFill>
          <a:ln>
            <a:noFill/>
          </a:ln>
          <a:effectLst>
            <a:outerShdw blurRad="101600" rotWithShape="0" algn="bl" dir="16200000" dist="50800">
              <a:srgbClr val="FFFFFF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6"/>
          <p:cNvSpPr/>
          <p:nvPr/>
        </p:nvSpPr>
        <p:spPr>
          <a:xfrm>
            <a:off x="1746937" y="1894488"/>
            <a:ext cx="3939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Pre-COVID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6"/>
          <p:cNvSpPr/>
          <p:nvPr/>
        </p:nvSpPr>
        <p:spPr>
          <a:xfrm>
            <a:off x="2830324" y="1437300"/>
            <a:ext cx="557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000"/>
              <a:buFont typeface="Source Serif 4"/>
              <a:buNone/>
            </a:pPr>
            <a:r>
              <a:rPr b="1" i="0" lang="it" sz="1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2020-01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6"/>
          <p:cNvSpPr/>
          <p:nvPr/>
        </p:nvSpPr>
        <p:spPr>
          <a:xfrm>
            <a:off x="3006643" y="1661125"/>
            <a:ext cx="95400" cy="95400"/>
          </a:xfrm>
          <a:prstGeom prst="ellipse">
            <a:avLst/>
          </a:prstGeom>
          <a:solidFill>
            <a:srgbClr val="1F4E79"/>
          </a:solidFill>
          <a:ln>
            <a:noFill/>
          </a:ln>
          <a:effectLst>
            <a:outerShdw blurRad="101600" rotWithShape="0" algn="bl" dir="16200000" dist="50800">
              <a:srgbClr val="FFFFFF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6"/>
          <p:cNvSpPr/>
          <p:nvPr/>
        </p:nvSpPr>
        <p:spPr>
          <a:xfrm>
            <a:off x="2876319" y="1894488"/>
            <a:ext cx="3939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Pre-COVID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6"/>
          <p:cNvSpPr/>
          <p:nvPr/>
        </p:nvSpPr>
        <p:spPr>
          <a:xfrm>
            <a:off x="3959727" y="1437300"/>
            <a:ext cx="557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000"/>
              <a:buFont typeface="Source Serif 4"/>
              <a:buNone/>
            </a:pPr>
            <a:r>
              <a:rPr b="1" i="0" lang="it" sz="1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2020-07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6"/>
          <p:cNvSpPr/>
          <p:nvPr/>
        </p:nvSpPr>
        <p:spPr>
          <a:xfrm>
            <a:off x="4136088" y="1661125"/>
            <a:ext cx="95400" cy="95400"/>
          </a:xfrm>
          <a:prstGeom prst="ellipse">
            <a:avLst/>
          </a:prstGeom>
          <a:solidFill>
            <a:srgbClr val="C0392B"/>
          </a:solidFill>
          <a:ln>
            <a:noFill/>
          </a:ln>
          <a:effectLst>
            <a:outerShdw blurRad="101600" rotWithShape="0" algn="bl" dir="16200000" dist="50800">
              <a:srgbClr val="FFFFFF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/>
          <p:nvPr/>
        </p:nvSpPr>
        <p:spPr>
          <a:xfrm>
            <a:off x="4077362" y="1894488"/>
            <a:ext cx="2508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COVID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6"/>
          <p:cNvSpPr/>
          <p:nvPr/>
        </p:nvSpPr>
        <p:spPr>
          <a:xfrm>
            <a:off x="5089101" y="1437300"/>
            <a:ext cx="557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000"/>
              <a:buFont typeface="Source Serif 4"/>
              <a:buNone/>
            </a:pPr>
            <a:r>
              <a:rPr b="1" i="0" lang="it" sz="1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2021-01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/>
          <p:nvPr/>
        </p:nvSpPr>
        <p:spPr>
          <a:xfrm>
            <a:off x="5265520" y="1661125"/>
            <a:ext cx="95400" cy="95400"/>
          </a:xfrm>
          <a:prstGeom prst="ellipse">
            <a:avLst/>
          </a:prstGeom>
          <a:solidFill>
            <a:srgbClr val="C0392B"/>
          </a:solidFill>
          <a:ln>
            <a:noFill/>
          </a:ln>
          <a:effectLst>
            <a:outerShdw blurRad="101600" rotWithShape="0" algn="bl" dir="16200000" dist="50800">
              <a:srgbClr val="FFFFFF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6"/>
          <p:cNvSpPr/>
          <p:nvPr/>
        </p:nvSpPr>
        <p:spPr>
          <a:xfrm>
            <a:off x="5206744" y="1894488"/>
            <a:ext cx="2508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COVID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6"/>
          <p:cNvSpPr/>
          <p:nvPr/>
        </p:nvSpPr>
        <p:spPr>
          <a:xfrm>
            <a:off x="6218475" y="1437300"/>
            <a:ext cx="557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000"/>
              <a:buFont typeface="Source Serif 4"/>
              <a:buNone/>
            </a:pPr>
            <a:r>
              <a:rPr b="1" i="0" lang="it" sz="1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2022-01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5" name="Google Shape;135;p6"/>
          <p:cNvSpPr/>
          <p:nvPr/>
        </p:nvSpPr>
        <p:spPr>
          <a:xfrm>
            <a:off x="6394902" y="1661125"/>
            <a:ext cx="95400" cy="95400"/>
          </a:xfrm>
          <a:prstGeom prst="ellipse">
            <a:avLst/>
          </a:prstGeom>
          <a:solidFill>
            <a:srgbClr val="2E86DE"/>
          </a:solidFill>
          <a:ln>
            <a:noFill/>
          </a:ln>
          <a:effectLst>
            <a:outerShdw blurRad="101600" rotWithShape="0" algn="bl" dir="16200000" dist="50800">
              <a:srgbClr val="FFFFFF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6"/>
          <p:cNvSpPr/>
          <p:nvPr/>
        </p:nvSpPr>
        <p:spPr>
          <a:xfrm>
            <a:off x="6248318" y="1894488"/>
            <a:ext cx="4263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Post-COVID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6"/>
          <p:cNvSpPr/>
          <p:nvPr/>
        </p:nvSpPr>
        <p:spPr>
          <a:xfrm>
            <a:off x="7347847" y="1437300"/>
            <a:ext cx="6153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000"/>
              <a:buFont typeface="Source Serif 4"/>
              <a:buNone/>
            </a:pPr>
            <a:r>
              <a:rPr b="1" i="0" lang="it" sz="1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2026-06</a:t>
            </a:r>
            <a:endParaRPr b="0" i="0" sz="10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6"/>
          <p:cNvSpPr/>
          <p:nvPr/>
        </p:nvSpPr>
        <p:spPr>
          <a:xfrm>
            <a:off x="7524272" y="1653838"/>
            <a:ext cx="95400" cy="95400"/>
          </a:xfrm>
          <a:prstGeom prst="ellipse">
            <a:avLst/>
          </a:prstGeom>
          <a:solidFill>
            <a:srgbClr val="2E86DE"/>
          </a:solidFill>
          <a:ln>
            <a:noFill/>
          </a:ln>
          <a:effectLst>
            <a:outerShdw blurRad="101600" rotWithShape="0" algn="bl" dir="16200000" dist="50800">
              <a:srgbClr val="FFFFFF"/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6"/>
          <p:cNvSpPr/>
          <p:nvPr/>
        </p:nvSpPr>
        <p:spPr>
          <a:xfrm>
            <a:off x="7377700" y="1894488"/>
            <a:ext cx="4263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Post-COVID</a:t>
            </a:r>
            <a:endParaRPr b="0" i="0" sz="6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6"/>
          <p:cNvSpPr txBox="1"/>
          <p:nvPr/>
        </p:nvSpPr>
        <p:spPr>
          <a:xfrm>
            <a:off x="566525" y="4077650"/>
            <a:ext cx="85776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it" sz="1200" u="none" cap="none" strike="noStrike">
                <a:solidFill>
                  <a:srgbClr val="1D1A1B"/>
                </a:solidFill>
                <a:latin typeface="Source Sans 3"/>
                <a:ea typeface="Source Sans 3"/>
                <a:cs typeface="Source Sans 3"/>
                <a:sym typeface="Source Sans 3"/>
              </a:rPr>
              <a:t>Source — </a:t>
            </a:r>
            <a:r>
              <a:rPr b="0" i="0" lang="it" sz="1200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FIDE Standard Rating Lists: official monthly records of every FIDE-rated player worldwide. (https://ratings.fide.com/download_lists.phtml)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7"/>
          <p:cNvSpPr/>
          <p:nvPr/>
        </p:nvSpPr>
        <p:spPr>
          <a:xfrm>
            <a:off x="571500" y="445294"/>
            <a:ext cx="142875" cy="14288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7" name="Google Shape;147;p7"/>
          <p:cNvSpPr/>
          <p:nvPr/>
        </p:nvSpPr>
        <p:spPr>
          <a:xfrm>
            <a:off x="781050" y="400050"/>
            <a:ext cx="47052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· 02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7"/>
          <p:cNvSpPr/>
          <p:nvPr/>
        </p:nvSpPr>
        <p:spPr>
          <a:xfrm>
            <a:off x="571500" y="590550"/>
            <a:ext cx="75210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2000"/>
              <a:buFont typeface="Source Serif 4"/>
              <a:buNone/>
            </a:pPr>
            <a:r>
              <a:rPr b="1" i="0" lang="it" sz="2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The Final DataSet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7"/>
          <p:cNvSpPr/>
          <p:nvPr/>
        </p:nvSpPr>
        <p:spPr>
          <a:xfrm>
            <a:off x="1987100" y="3924350"/>
            <a:ext cx="53523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800"/>
              <a:buFont typeface="Source Sans 3"/>
              <a:buNone/>
            </a:pPr>
            <a:r>
              <a:t/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>
            <a:off x="3553916" y="1657245"/>
            <a:ext cx="20997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500"/>
              <a:buFont typeface="Source Sans 3"/>
              <a:buNone/>
            </a:pPr>
            <a:r>
              <a:rPr b="1" i="0" lang="it" sz="500" u="none" cap="none" strike="noStrike">
                <a:solidFill>
                  <a:srgbClr val="A59C9A"/>
                </a:solidFill>
                <a:latin typeface="Source Sans 3"/>
                <a:ea typeface="Source Sans 3"/>
                <a:cs typeface="Source Sans 3"/>
                <a:sym typeface="Source Sans 3"/>
              </a:rPr>
              <a:t>SAMPLE OF THE CLEANED DATASET · 15 VARIABLES</a:t>
            </a:r>
            <a:endParaRPr b="0" i="0" sz="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/>
          <p:nvPr/>
        </p:nvSpPr>
        <p:spPr>
          <a:xfrm>
            <a:off x="1475325" y="1054775"/>
            <a:ext cx="6256800" cy="3564900"/>
          </a:xfrm>
          <a:prstGeom prst="roundRect">
            <a:avLst>
              <a:gd fmla="val 3614" name="adj"/>
            </a:avLst>
          </a:prstGeom>
          <a:solidFill>
            <a:srgbClr val="FFFFFF"/>
          </a:solidFill>
          <a:ln cap="flat" cmpd="sng" w="9525">
            <a:solidFill>
              <a:srgbClr val="E7E3E2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 dir="5400000" dist="152400">
              <a:srgbClr val="000000">
                <a:alpha val="40000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7"/>
          <p:cNvSpPr/>
          <p:nvPr/>
        </p:nvSpPr>
        <p:spPr>
          <a:xfrm>
            <a:off x="171450" y="4586288"/>
            <a:ext cx="8801100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600"/>
              <a:buFont typeface="Source Sans 3"/>
              <a:buNone/>
            </a:pPr>
            <a:r>
              <a:t/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7"/>
          <p:cNvSpPr/>
          <p:nvPr/>
        </p:nvSpPr>
        <p:spPr>
          <a:xfrm>
            <a:off x="571500" y="4781550"/>
            <a:ext cx="8001000" cy="4763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7"/>
          <p:cNvSpPr/>
          <p:nvPr/>
        </p:nvSpPr>
        <p:spPr>
          <a:xfrm>
            <a:off x="571500" y="4852988"/>
            <a:ext cx="2045487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A59C9A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over-the-board chess recover after COVID-19? — Honi Arora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7"/>
          <p:cNvSpPr/>
          <p:nvPr/>
        </p:nvSpPr>
        <p:spPr>
          <a:xfrm>
            <a:off x="8499202" y="4852988"/>
            <a:ext cx="111398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05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6" name="Google Shape;156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475425" y="1054850"/>
            <a:ext cx="6256703" cy="3564801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7"/>
          <p:cNvSpPr txBox="1"/>
          <p:nvPr/>
        </p:nvSpPr>
        <p:spPr>
          <a:xfrm>
            <a:off x="2255400" y="4518250"/>
            <a:ext cx="900600" cy="114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t/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8"/>
          <p:cNvSpPr/>
          <p:nvPr/>
        </p:nvSpPr>
        <p:spPr>
          <a:xfrm>
            <a:off x="571500" y="445294"/>
            <a:ext cx="142875" cy="14288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8"/>
          <p:cNvSpPr/>
          <p:nvPr/>
        </p:nvSpPr>
        <p:spPr>
          <a:xfrm>
            <a:off x="781050" y="400050"/>
            <a:ext cx="62805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FINDING · 01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8"/>
          <p:cNvSpPr/>
          <p:nvPr/>
        </p:nvSpPr>
        <p:spPr>
          <a:xfrm>
            <a:off x="571500" y="590550"/>
            <a:ext cx="65733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2000"/>
              <a:buFont typeface="Source Serif 4"/>
              <a:buNone/>
            </a:pPr>
            <a:r>
              <a:rPr b="1" i="0" lang="it" sz="2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Participation collapse during COVID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8"/>
          <p:cNvSpPr/>
          <p:nvPr/>
        </p:nvSpPr>
        <p:spPr>
          <a:xfrm>
            <a:off x="571500" y="1113550"/>
            <a:ext cx="4086300" cy="3012300"/>
          </a:xfrm>
          <a:prstGeom prst="roundRect">
            <a:avLst>
              <a:gd fmla="val 2268" name="adj"/>
            </a:avLst>
          </a:prstGeom>
          <a:solidFill>
            <a:srgbClr val="FCFBFB"/>
          </a:solidFill>
          <a:ln cap="flat" cmpd="sng" w="9525">
            <a:solidFill>
              <a:srgbClr val="ECE8E7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 dir="5400000" dist="152400">
              <a:srgbClr val="000000">
                <a:alpha val="40000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67" name="Google Shape;16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25538" y="1174278"/>
            <a:ext cx="4086225" cy="2962275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8"/>
          <p:cNvSpPr/>
          <p:nvPr/>
        </p:nvSpPr>
        <p:spPr>
          <a:xfrm>
            <a:off x="5555700" y="2673022"/>
            <a:ext cx="2955300" cy="78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74675" lIns="74675" spcFirstLastPara="1" rIns="74675" wrap="square" tIns="74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9" name="Google Shape;169;p8"/>
          <p:cNvSpPr/>
          <p:nvPr/>
        </p:nvSpPr>
        <p:spPr>
          <a:xfrm>
            <a:off x="4909175" y="2851599"/>
            <a:ext cx="3471300" cy="1192200"/>
          </a:xfrm>
          <a:prstGeom prst="roundRect">
            <a:avLst>
              <a:gd fmla="val 13953" name="adj"/>
            </a:avLst>
          </a:prstGeom>
          <a:solidFill>
            <a:srgbClr val="FAF4F5"/>
          </a:solidFill>
          <a:ln cap="flat" cmpd="sng" w="18275">
            <a:solidFill>
              <a:srgbClr val="EFDFE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7700" lIns="87700" spcFirstLastPara="1" rIns="87700" wrap="square" tIns="87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997"/>
              <a:buFont typeface="Arial"/>
              <a:buNone/>
            </a:pPr>
            <a:r>
              <a:t/>
            </a:r>
            <a:endParaRPr b="0" i="0" sz="1997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8"/>
          <p:cNvSpPr/>
          <p:nvPr/>
        </p:nvSpPr>
        <p:spPr>
          <a:xfrm>
            <a:off x="5101025" y="2943975"/>
            <a:ext cx="3550500" cy="24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6E1623"/>
              </a:buClr>
              <a:buSzPts val="1151"/>
              <a:buFont typeface="Source Sans 3"/>
              <a:buNone/>
            </a:pPr>
            <a:r>
              <a:rPr b="0" i="0" lang="it" sz="1503" u="none" cap="none" strike="noStrike">
                <a:solidFill>
                  <a:srgbClr val="6E1623"/>
                </a:solidFill>
                <a:latin typeface="Source Sans 3"/>
                <a:ea typeface="Source Sans 3"/>
                <a:cs typeface="Source Sans 3"/>
                <a:sym typeface="Source Sans 3"/>
              </a:rPr>
              <a:t>χ² = 90,418 · p &lt; .001 · Cramer's V = 0.29</a:t>
            </a:r>
            <a:endParaRPr b="0" i="0" sz="15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8"/>
          <p:cNvSpPr/>
          <p:nvPr/>
        </p:nvSpPr>
        <p:spPr>
          <a:xfrm>
            <a:off x="5101025" y="3248575"/>
            <a:ext cx="3279300" cy="5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24375" lIns="24375" spcFirstLastPara="1" rIns="24375" wrap="square" tIns="243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9A7D82"/>
              </a:buClr>
              <a:buSzPts val="1151"/>
              <a:buFont typeface="Source Sans 3"/>
              <a:buNone/>
            </a:pPr>
            <a:r>
              <a:rPr b="0" i="0" lang="it" sz="1503" u="none" cap="none" strike="noStrike">
                <a:solidFill>
                  <a:srgbClr val="9A7D82"/>
                </a:solidFill>
                <a:latin typeface="Source Sans 3"/>
                <a:ea typeface="Source Sans 3"/>
                <a:cs typeface="Source Sans 3"/>
                <a:sym typeface="Source Sans 3"/>
              </a:rPr>
              <a:t>A moderate association between period and tournament participation </a:t>
            </a:r>
            <a:endParaRPr b="0" i="0" sz="150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8"/>
          <p:cNvSpPr/>
          <p:nvPr/>
        </p:nvSpPr>
        <p:spPr>
          <a:xfrm>
            <a:off x="571500" y="4781550"/>
            <a:ext cx="5799000" cy="48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3" name="Google Shape;173;p8"/>
          <p:cNvSpPr/>
          <p:nvPr/>
        </p:nvSpPr>
        <p:spPr>
          <a:xfrm>
            <a:off x="571500" y="4852988"/>
            <a:ext cx="2045487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A59C9A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over-the-board chess recover after COVID-19? — Honi Arora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8"/>
          <p:cNvSpPr/>
          <p:nvPr/>
        </p:nvSpPr>
        <p:spPr>
          <a:xfrm>
            <a:off x="8499202" y="4852988"/>
            <a:ext cx="111398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06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5" name="Google Shape;175;p8"/>
          <p:cNvGraphicFramePr/>
          <p:nvPr/>
        </p:nvGraphicFramePr>
        <p:xfrm>
          <a:off x="4909163" y="1110250"/>
          <a:ext cx="3972900" cy="1380000"/>
        </p:xfrm>
        <a:graphic>
          <a:graphicData uri="http://schemas.openxmlformats.org/drawingml/2006/table">
            <a:tbl>
              <a:tblPr firstRow="0" bandRow="0">
                <a:tableStyleId>{D6DA42C7-B1F0-4C58-B3E5-453CB04D3C1B}</a:tableStyleId>
              </a:tblPr>
              <a:tblGrid>
                <a:gridCol w="1324300"/>
                <a:gridCol w="1324300"/>
                <a:gridCol w="1324300"/>
              </a:tblGrid>
              <a:tr h="30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Period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8A1E2D"/>
                      </a:solidFill>
                      <a:prstDash val="solid"/>
                    </a:lnL>
                    <a:lnR w="12700" cap="flat">
                      <a:solidFill>
                        <a:srgbClr val="8A1E2D"/>
                      </a:solidFill>
                      <a:prstDash val="solid"/>
                    </a:lnR>
                    <a:lnT w="12700" cap="flat">
                      <a:solidFill>
                        <a:srgbClr val="8A1E2D"/>
                      </a:solidFill>
                      <a:prstDash val="solid"/>
                    </a:lnT>
                    <a:lnB w="12700" cap="flat">
                      <a:solidFill>
                        <a:srgbClr val="8A1E2D"/>
                      </a:solidFill>
                      <a:prstDash val="solid"/>
                    </a:lnB>
                    <a:solidFill>
                      <a:srgbClr val="8A1E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False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8A1E2D"/>
                      </a:solidFill>
                      <a:prstDash val="solid"/>
                    </a:lnL>
                    <a:lnR w="12700" cap="flat">
                      <a:solidFill>
                        <a:srgbClr val="8A1E2D"/>
                      </a:solidFill>
                      <a:prstDash val="solid"/>
                    </a:lnR>
                    <a:lnT w="12700" cap="flat">
                      <a:solidFill>
                        <a:srgbClr val="8A1E2D"/>
                      </a:solidFill>
                      <a:prstDash val="solid"/>
                    </a:lnT>
                    <a:lnB w="12700" cap="flat">
                      <a:solidFill>
                        <a:srgbClr val="8A1E2D"/>
                      </a:solidFill>
                      <a:prstDash val="solid"/>
                    </a:lnB>
                    <a:solidFill>
                      <a:srgbClr val="8A1E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True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8A1E2D"/>
                      </a:solidFill>
                      <a:prstDash val="solid"/>
                    </a:lnL>
                    <a:lnR w="12700" cap="flat">
                      <a:solidFill>
                        <a:srgbClr val="8A1E2D"/>
                      </a:solidFill>
                      <a:prstDash val="solid"/>
                    </a:lnR>
                    <a:lnT w="12700" cap="flat">
                      <a:solidFill>
                        <a:srgbClr val="8A1E2D"/>
                      </a:solidFill>
                      <a:prstDash val="solid"/>
                    </a:lnT>
                    <a:lnB w="12700" cap="flat">
                      <a:solidFill>
                        <a:srgbClr val="8A1E2D"/>
                      </a:solidFill>
                      <a:prstDash val="solid"/>
                    </a:lnB>
                    <a:solidFill>
                      <a:srgbClr val="8A1E2D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Pre-Covid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231,657  </a:t>
                      </a:r>
                      <a:r>
                        <a:rPr b="0" i="0" lang="en-US" sz="9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(67.9%)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109,493  </a:t>
                      </a:r>
                      <a:r>
                        <a:rPr b="0" i="0" lang="en-US" sz="9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(32.1%)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Covid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329,715  </a:t>
                      </a:r>
                      <a:r>
                        <a:rPr b="0" i="0" lang="en-US" sz="9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(96.1%)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13,539  </a:t>
                      </a:r>
                      <a:r>
                        <a:rPr b="0" i="0" lang="en-US" sz="9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(3.9%)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36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Post-Covid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276,167  </a:t>
                      </a:r>
                      <a:r>
                        <a:rPr b="0" i="0" lang="en-US" sz="9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(75.3%)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90,669  </a:t>
                      </a:r>
                      <a:r>
                        <a:rPr b="0" i="0" lang="en-US" sz="9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(24.7%)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9"/>
          <p:cNvSpPr/>
          <p:nvPr/>
        </p:nvSpPr>
        <p:spPr>
          <a:xfrm>
            <a:off x="571500" y="445294"/>
            <a:ext cx="142875" cy="14288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9"/>
          <p:cNvSpPr/>
          <p:nvPr/>
        </p:nvSpPr>
        <p:spPr>
          <a:xfrm>
            <a:off x="781050" y="400050"/>
            <a:ext cx="998391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SEGMENTATION · 01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9"/>
          <p:cNvSpPr/>
          <p:nvPr/>
        </p:nvSpPr>
        <p:spPr>
          <a:xfrm>
            <a:off x="571500" y="590550"/>
            <a:ext cx="7019925" cy="296391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2000"/>
              <a:buFont typeface="Source Serif 4"/>
              <a:buNone/>
            </a:pPr>
            <a:r>
              <a:rPr b="1" i="0" lang="it" sz="2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Elbow Plot for Determining Clusters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9"/>
          <p:cNvSpPr/>
          <p:nvPr/>
        </p:nvSpPr>
        <p:spPr>
          <a:xfrm>
            <a:off x="571500" y="1113550"/>
            <a:ext cx="5091600" cy="3572700"/>
          </a:xfrm>
          <a:prstGeom prst="roundRect">
            <a:avLst>
              <a:gd fmla="val 2095" name="adj"/>
            </a:avLst>
          </a:prstGeom>
          <a:solidFill>
            <a:srgbClr val="FCFBFB"/>
          </a:solidFill>
          <a:ln cap="flat" cmpd="sng" w="9525">
            <a:solidFill>
              <a:srgbClr val="ECE8E7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 dir="5400000" dist="152400">
              <a:srgbClr val="000000">
                <a:alpha val="40000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85" name="Google Shape;18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6312" y="1113538"/>
            <a:ext cx="5026562" cy="3524838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9"/>
          <p:cNvSpPr/>
          <p:nvPr/>
        </p:nvSpPr>
        <p:spPr>
          <a:xfrm>
            <a:off x="6330375" y="1113550"/>
            <a:ext cx="2445000" cy="4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00" lIns="15600" spcFirstLastPara="1" rIns="15600" wrap="square" tIns="156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3930"/>
              <a:buFont typeface="Source Serif 4"/>
              <a:buNone/>
            </a:pPr>
            <a:r>
              <a:rPr b="1" i="0" lang="it" sz="3930" u="none" cap="none" strike="noStrike">
                <a:solidFill>
                  <a:srgbClr val="8A1E2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k = 4</a:t>
            </a:r>
            <a:endParaRPr b="0" i="0" sz="393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9"/>
          <p:cNvSpPr/>
          <p:nvPr/>
        </p:nvSpPr>
        <p:spPr>
          <a:xfrm>
            <a:off x="6330375" y="1625898"/>
            <a:ext cx="2445000" cy="1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00" lIns="15600" spcFirstLastPara="1" rIns="15600" wrap="square" tIns="156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860"/>
              <a:buFont typeface="Source Sans 3"/>
              <a:buNone/>
            </a:pPr>
            <a:r>
              <a:rPr b="0" i="0" lang="it" sz="1160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a clear bend in the elbow curve</a:t>
            </a:r>
            <a:endParaRPr b="0" i="0" sz="116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9"/>
          <p:cNvSpPr/>
          <p:nvPr/>
        </p:nvSpPr>
        <p:spPr>
          <a:xfrm>
            <a:off x="6330375" y="1947600"/>
            <a:ext cx="2222400" cy="57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56150" lIns="56150" spcFirstLastPara="1" rIns="56150" wrap="square" tIns="561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9" name="Google Shape;189;p9"/>
          <p:cNvSpPr/>
          <p:nvPr/>
        </p:nvSpPr>
        <p:spPr>
          <a:xfrm>
            <a:off x="6330375" y="2128923"/>
            <a:ext cx="22890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00" lIns="15600" spcFirstLastPara="1" rIns="15600" wrap="square" tIns="156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536"/>
              </a:buClr>
              <a:buSzPts val="983"/>
              <a:buFont typeface="Source Sans 3"/>
              <a:buNone/>
            </a:pPr>
            <a:r>
              <a:rPr b="0" i="0" lang="it" sz="1183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K-means groups players by similar rating, activity and age profiles.</a:t>
            </a:r>
            <a:endParaRPr b="0" i="0" sz="11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9"/>
          <p:cNvSpPr/>
          <p:nvPr/>
        </p:nvSpPr>
        <p:spPr>
          <a:xfrm>
            <a:off x="6330375" y="2744968"/>
            <a:ext cx="2289000" cy="392100"/>
          </a:xfrm>
          <a:prstGeom prst="rect">
            <a:avLst/>
          </a:prstGeom>
          <a:noFill/>
          <a:ln>
            <a:noFill/>
          </a:ln>
        </p:spPr>
        <p:txBody>
          <a:bodyPr anchorCtr="0" anchor="t" bIns="15600" lIns="15600" spcFirstLastPara="1" rIns="15600" wrap="square" tIns="156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536"/>
              </a:buClr>
              <a:buSzPts val="983"/>
              <a:buFont typeface="Source Sans 3"/>
              <a:buNone/>
            </a:pPr>
            <a:r>
              <a:rPr b="0" i="0" lang="it" sz="1183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These four clusters drive all subsequent player-segmentation analysis.</a:t>
            </a:r>
            <a:endParaRPr b="0" i="0" sz="118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9"/>
          <p:cNvSpPr/>
          <p:nvPr/>
        </p:nvSpPr>
        <p:spPr>
          <a:xfrm>
            <a:off x="571500" y="4781550"/>
            <a:ext cx="8001000" cy="4763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2" name="Google Shape;192;p9"/>
          <p:cNvSpPr/>
          <p:nvPr/>
        </p:nvSpPr>
        <p:spPr>
          <a:xfrm>
            <a:off x="571500" y="4852988"/>
            <a:ext cx="2045487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A59C9A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over-the-board chess recover after COVID-19? — Honi Arora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/>
          <p:nvPr/>
        </p:nvSpPr>
        <p:spPr>
          <a:xfrm>
            <a:off x="8499202" y="4852988"/>
            <a:ext cx="111398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07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571500" y="446247"/>
            <a:ext cx="142875" cy="14288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10"/>
          <p:cNvSpPr/>
          <p:nvPr/>
        </p:nvSpPr>
        <p:spPr>
          <a:xfrm>
            <a:off x="781050" y="400050"/>
            <a:ext cx="998440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SEGMENTATION · 02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0"/>
          <p:cNvSpPr/>
          <p:nvPr/>
        </p:nvSpPr>
        <p:spPr>
          <a:xfrm>
            <a:off x="571500" y="592455"/>
            <a:ext cx="7019925" cy="296406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2000"/>
              <a:buFont typeface="Source Serif 4"/>
              <a:buNone/>
            </a:pPr>
            <a:r>
              <a:rPr b="1" i="0" lang="it" sz="2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Four kinds of players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0"/>
          <p:cNvSpPr/>
          <p:nvPr/>
        </p:nvSpPr>
        <p:spPr>
          <a:xfrm>
            <a:off x="571500" y="1041261"/>
            <a:ext cx="1905477" cy="3645039"/>
          </a:xfrm>
          <a:prstGeom prst="roundRect">
            <a:avLst>
              <a:gd fmla="val 3999" name="adj"/>
            </a:avLst>
          </a:prstGeom>
          <a:solidFill>
            <a:srgbClr val="FFFFFF"/>
          </a:solidFill>
          <a:ln cap="flat" cmpd="sng" w="9525">
            <a:solidFill>
              <a:srgbClr val="E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0"/>
          <p:cNvSpPr/>
          <p:nvPr/>
        </p:nvSpPr>
        <p:spPr>
          <a:xfrm>
            <a:off x="575310" y="1045071"/>
            <a:ext cx="1897857" cy="38100"/>
          </a:xfrm>
          <a:prstGeom prst="rect">
            <a:avLst/>
          </a:prstGeom>
          <a:solidFill>
            <a:srgbClr val="F8766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10"/>
          <p:cNvSpPr/>
          <p:nvPr/>
        </p:nvSpPr>
        <p:spPr>
          <a:xfrm>
            <a:off x="718185" y="1226046"/>
            <a:ext cx="1773317" cy="1690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100"/>
              <a:buFont typeface="Source Serif 4"/>
              <a:buNone/>
            </a:pPr>
            <a:r>
              <a:rPr b="1" i="0" lang="it" sz="12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Young (Low-Activity)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718185" y="1414165"/>
            <a:ext cx="1773317" cy="14097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700"/>
              <a:buFont typeface="Source Sans 3"/>
              <a:buNone/>
            </a:pPr>
            <a:r>
              <a:rPr b="0" i="0" lang="it" sz="11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33% of players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0"/>
          <p:cNvSpPr/>
          <p:nvPr/>
        </p:nvSpPr>
        <p:spPr>
          <a:xfrm>
            <a:off x="718185" y="1650385"/>
            <a:ext cx="1612107" cy="4763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718185" y="2537282"/>
            <a:ext cx="177331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AVG. AGE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0"/>
          <p:cNvSpPr/>
          <p:nvPr/>
        </p:nvSpPr>
        <p:spPr>
          <a:xfrm>
            <a:off x="718185" y="2643962"/>
            <a:ext cx="17733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800"/>
              <a:buFont typeface="Source Serif 4"/>
              <a:buNone/>
            </a:pPr>
            <a:r>
              <a:rPr b="1" i="0" lang="it" sz="18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/>
          <p:nvPr/>
        </p:nvSpPr>
        <p:spPr>
          <a:xfrm>
            <a:off x="718185" y="2986862"/>
            <a:ext cx="177331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AVG. RATING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0"/>
          <p:cNvSpPr/>
          <p:nvPr/>
        </p:nvSpPr>
        <p:spPr>
          <a:xfrm>
            <a:off x="718185" y="3093542"/>
            <a:ext cx="17733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800"/>
              <a:buFont typeface="Source Serif 4"/>
              <a:buNone/>
            </a:pPr>
            <a:r>
              <a:rPr b="1" i="0" lang="it" sz="18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1372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0"/>
          <p:cNvSpPr/>
          <p:nvPr/>
        </p:nvSpPr>
        <p:spPr>
          <a:xfrm>
            <a:off x="718185" y="3436442"/>
            <a:ext cx="177331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AVG. GAMES / MO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0"/>
          <p:cNvSpPr/>
          <p:nvPr/>
        </p:nvSpPr>
        <p:spPr>
          <a:xfrm>
            <a:off x="718185" y="3543121"/>
            <a:ext cx="17733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1800"/>
              <a:buFont typeface="Source Serif 4"/>
              <a:buNone/>
            </a:pPr>
            <a:r>
              <a:rPr b="1" i="0" lang="it" sz="1800" u="none" cap="none" strike="noStrike">
                <a:solidFill>
                  <a:srgbClr val="8A1E2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~0.3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0"/>
          <p:cNvSpPr/>
          <p:nvPr/>
        </p:nvSpPr>
        <p:spPr>
          <a:xfrm>
            <a:off x="2600802" y="1041261"/>
            <a:ext cx="1905477" cy="3645039"/>
          </a:xfrm>
          <a:prstGeom prst="roundRect">
            <a:avLst>
              <a:gd fmla="val 3999" name="adj"/>
            </a:avLst>
          </a:prstGeom>
          <a:solidFill>
            <a:srgbClr val="FFFFFF"/>
          </a:solidFill>
          <a:ln cap="flat" cmpd="sng" w="9525">
            <a:solidFill>
              <a:srgbClr val="E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10"/>
          <p:cNvSpPr/>
          <p:nvPr/>
        </p:nvSpPr>
        <p:spPr>
          <a:xfrm>
            <a:off x="2604612" y="1045071"/>
            <a:ext cx="1897857" cy="38100"/>
          </a:xfrm>
          <a:prstGeom prst="rect">
            <a:avLst/>
          </a:prstGeom>
          <a:solidFill>
            <a:srgbClr val="7CAE00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10"/>
          <p:cNvSpPr/>
          <p:nvPr/>
        </p:nvSpPr>
        <p:spPr>
          <a:xfrm>
            <a:off x="2747487" y="1226046"/>
            <a:ext cx="1773317" cy="1690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100"/>
              <a:buFont typeface="Source Serif 4"/>
              <a:buNone/>
            </a:pPr>
            <a:r>
              <a:rPr b="1" i="0" lang="it" sz="12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Seniors (Low-Activity)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0"/>
          <p:cNvSpPr/>
          <p:nvPr/>
        </p:nvSpPr>
        <p:spPr>
          <a:xfrm>
            <a:off x="2747487" y="1414165"/>
            <a:ext cx="1773317" cy="14097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700"/>
              <a:buFont typeface="Source Sans 3"/>
              <a:buNone/>
            </a:pPr>
            <a:r>
              <a:rPr b="0" i="0" lang="it" sz="11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28% of players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0"/>
          <p:cNvSpPr/>
          <p:nvPr/>
        </p:nvSpPr>
        <p:spPr>
          <a:xfrm>
            <a:off x="2747487" y="1650385"/>
            <a:ext cx="1612106" cy="4763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10"/>
          <p:cNvSpPr/>
          <p:nvPr/>
        </p:nvSpPr>
        <p:spPr>
          <a:xfrm>
            <a:off x="2747487" y="2537282"/>
            <a:ext cx="177331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AVG. AGE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10"/>
          <p:cNvSpPr/>
          <p:nvPr/>
        </p:nvSpPr>
        <p:spPr>
          <a:xfrm>
            <a:off x="2747487" y="2643962"/>
            <a:ext cx="17733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800"/>
              <a:buFont typeface="Source Serif 4"/>
              <a:buNone/>
            </a:pPr>
            <a:r>
              <a:rPr b="1" i="0" lang="it" sz="18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62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10"/>
          <p:cNvSpPr/>
          <p:nvPr/>
        </p:nvSpPr>
        <p:spPr>
          <a:xfrm>
            <a:off x="2747487" y="2986862"/>
            <a:ext cx="177331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AVG. RATING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10"/>
          <p:cNvSpPr/>
          <p:nvPr/>
        </p:nvSpPr>
        <p:spPr>
          <a:xfrm>
            <a:off x="2747487" y="3093542"/>
            <a:ext cx="17733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800"/>
              <a:buFont typeface="Source Serif 4"/>
              <a:buNone/>
            </a:pPr>
            <a:r>
              <a:rPr b="1" i="0" lang="it" sz="18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1673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10"/>
          <p:cNvSpPr/>
          <p:nvPr/>
        </p:nvSpPr>
        <p:spPr>
          <a:xfrm>
            <a:off x="2747487" y="3436442"/>
            <a:ext cx="177331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AVG. GAMES / MO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10"/>
          <p:cNvSpPr/>
          <p:nvPr/>
        </p:nvSpPr>
        <p:spPr>
          <a:xfrm>
            <a:off x="2747487" y="3543121"/>
            <a:ext cx="17733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1800"/>
              <a:buFont typeface="Source Serif 4"/>
              <a:buNone/>
            </a:pPr>
            <a:r>
              <a:rPr b="1" i="0" lang="it" sz="1800" u="none" cap="none" strike="noStrike">
                <a:solidFill>
                  <a:srgbClr val="8A1E2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~0.4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10"/>
          <p:cNvSpPr/>
          <p:nvPr/>
        </p:nvSpPr>
        <p:spPr>
          <a:xfrm>
            <a:off x="4630102" y="1041261"/>
            <a:ext cx="1913097" cy="3645039"/>
          </a:xfrm>
          <a:prstGeom prst="roundRect">
            <a:avLst>
              <a:gd fmla="val 3983" name="adj"/>
            </a:avLst>
          </a:prstGeom>
          <a:solidFill>
            <a:srgbClr val="FFFFFF"/>
          </a:solidFill>
          <a:ln cap="flat" cmpd="sng" w="15225">
            <a:solidFill>
              <a:srgbClr val="00BFC4"/>
            </a:solidFill>
            <a:prstDash val="solid"/>
            <a:round/>
            <a:headEnd len="sm" w="sm" type="none"/>
            <a:tailEnd len="sm" w="sm" type="none"/>
          </a:ln>
          <a:effectLst>
            <a:outerShdw blurRad="285750" rotWithShape="0" algn="bl" dir="5400000" dist="133350">
              <a:srgbClr val="00BFC4">
                <a:alpha val="50196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0"/>
          <p:cNvSpPr/>
          <p:nvPr/>
        </p:nvSpPr>
        <p:spPr>
          <a:xfrm>
            <a:off x="4637723" y="1048881"/>
            <a:ext cx="1897856" cy="38100"/>
          </a:xfrm>
          <a:prstGeom prst="rect">
            <a:avLst/>
          </a:prstGeom>
          <a:solidFill>
            <a:srgbClr val="00BFC4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6" name="Google Shape;226;p10"/>
          <p:cNvSpPr/>
          <p:nvPr/>
        </p:nvSpPr>
        <p:spPr>
          <a:xfrm>
            <a:off x="4780598" y="1229856"/>
            <a:ext cx="1773317" cy="169069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00777B"/>
              </a:buClr>
              <a:buSzPts val="1100"/>
              <a:buFont typeface="Source Serif 4"/>
              <a:buNone/>
            </a:pPr>
            <a:r>
              <a:rPr b="1" i="0" lang="it" sz="1200" u="none" cap="none" strike="noStrike">
                <a:solidFill>
                  <a:srgbClr val="00777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Regular Players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10"/>
          <p:cNvSpPr/>
          <p:nvPr/>
        </p:nvSpPr>
        <p:spPr>
          <a:xfrm>
            <a:off x="4780598" y="1417975"/>
            <a:ext cx="1773317" cy="14097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3A8"/>
              </a:buClr>
              <a:buSzPts val="700"/>
              <a:buFont typeface="Source Sans 3"/>
              <a:buNone/>
            </a:pPr>
            <a:r>
              <a:rPr b="1" i="0" lang="it" sz="1100" u="none" cap="none" strike="noStrike">
                <a:solidFill>
                  <a:srgbClr val="00A3A8"/>
                </a:solidFill>
                <a:latin typeface="Source Sans 3"/>
                <a:ea typeface="Source Sans 3"/>
                <a:cs typeface="Source Sans 3"/>
                <a:sym typeface="Source Sans 3"/>
              </a:rPr>
              <a:t>14% of players 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10"/>
          <p:cNvSpPr/>
          <p:nvPr/>
        </p:nvSpPr>
        <p:spPr>
          <a:xfrm>
            <a:off x="4780598" y="1654195"/>
            <a:ext cx="1612106" cy="4763"/>
          </a:xfrm>
          <a:prstGeom prst="rect">
            <a:avLst/>
          </a:prstGeom>
          <a:solidFill>
            <a:srgbClr val="D4F0F1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9" name="Google Shape;229;p10"/>
          <p:cNvSpPr/>
          <p:nvPr/>
        </p:nvSpPr>
        <p:spPr>
          <a:xfrm>
            <a:off x="4780598" y="2537282"/>
            <a:ext cx="177331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AVG. AGE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0" name="Google Shape;230;p10"/>
          <p:cNvSpPr/>
          <p:nvPr/>
        </p:nvSpPr>
        <p:spPr>
          <a:xfrm>
            <a:off x="4780598" y="2643962"/>
            <a:ext cx="17733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800"/>
              <a:buFont typeface="Source Serif 4"/>
              <a:buNone/>
            </a:pPr>
            <a:r>
              <a:rPr b="1" i="0" lang="it" sz="18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~33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0"/>
          <p:cNvSpPr/>
          <p:nvPr/>
        </p:nvSpPr>
        <p:spPr>
          <a:xfrm>
            <a:off x="4780598" y="2986862"/>
            <a:ext cx="177331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AVG. RATING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10"/>
          <p:cNvSpPr/>
          <p:nvPr/>
        </p:nvSpPr>
        <p:spPr>
          <a:xfrm>
            <a:off x="4780598" y="3093542"/>
            <a:ext cx="17733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800"/>
              <a:buFont typeface="Source Serif 4"/>
              <a:buNone/>
            </a:pPr>
            <a:r>
              <a:rPr b="1" i="0" lang="it" sz="18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1689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10"/>
          <p:cNvSpPr/>
          <p:nvPr/>
        </p:nvSpPr>
        <p:spPr>
          <a:xfrm>
            <a:off x="4780598" y="3436442"/>
            <a:ext cx="177331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3A8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00A3A8"/>
                </a:solidFill>
                <a:latin typeface="Source Sans 3"/>
                <a:ea typeface="Source Sans 3"/>
                <a:cs typeface="Source Sans 3"/>
                <a:sym typeface="Source Sans 3"/>
              </a:rPr>
              <a:t>AVG. GAMES / MO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0"/>
          <p:cNvSpPr/>
          <p:nvPr/>
        </p:nvSpPr>
        <p:spPr>
          <a:xfrm>
            <a:off x="4780598" y="3543121"/>
            <a:ext cx="17733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A3A8"/>
              </a:buClr>
              <a:buSzPts val="1800"/>
              <a:buFont typeface="Source Serif 4"/>
              <a:buNone/>
            </a:pPr>
            <a:r>
              <a:rPr b="1" i="0" lang="it" sz="1800" u="none" cap="none" strike="noStrike">
                <a:solidFill>
                  <a:srgbClr val="00A3A8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6.6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10"/>
          <p:cNvSpPr/>
          <p:nvPr/>
        </p:nvSpPr>
        <p:spPr>
          <a:xfrm>
            <a:off x="6667024" y="1041261"/>
            <a:ext cx="1905477" cy="3645039"/>
          </a:xfrm>
          <a:prstGeom prst="roundRect">
            <a:avLst>
              <a:gd fmla="val 3999" name="adj"/>
            </a:avLst>
          </a:prstGeom>
          <a:solidFill>
            <a:srgbClr val="FFFFFF"/>
          </a:solidFill>
          <a:ln cap="flat" cmpd="sng" w="9525">
            <a:solidFill>
              <a:srgbClr val="ECE8E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10"/>
          <p:cNvSpPr/>
          <p:nvPr/>
        </p:nvSpPr>
        <p:spPr>
          <a:xfrm>
            <a:off x="6670834" y="1045071"/>
            <a:ext cx="1897857" cy="38100"/>
          </a:xfrm>
          <a:prstGeom prst="rect">
            <a:avLst/>
          </a:prstGeom>
          <a:solidFill>
            <a:srgbClr val="C77CFF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10"/>
          <p:cNvSpPr/>
          <p:nvPr/>
        </p:nvSpPr>
        <p:spPr>
          <a:xfrm>
            <a:off x="6813699" y="1226050"/>
            <a:ext cx="1897800" cy="1692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100"/>
              <a:buFont typeface="Source Serif 4"/>
              <a:buNone/>
            </a:pPr>
            <a:r>
              <a:rPr b="1" i="0" lang="it" sz="12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Strong (Low-Activity)</a:t>
            </a:r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10"/>
          <p:cNvSpPr/>
          <p:nvPr/>
        </p:nvSpPr>
        <p:spPr>
          <a:xfrm>
            <a:off x="6813709" y="1414165"/>
            <a:ext cx="1773317" cy="14097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700"/>
              <a:buFont typeface="Source Sans 3"/>
              <a:buNone/>
            </a:pPr>
            <a:r>
              <a:rPr b="0" i="0" lang="it" sz="11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26% of players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10"/>
          <p:cNvSpPr/>
          <p:nvPr/>
        </p:nvSpPr>
        <p:spPr>
          <a:xfrm>
            <a:off x="6813709" y="1650385"/>
            <a:ext cx="1612107" cy="4763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0" name="Google Shape;240;p10"/>
          <p:cNvSpPr/>
          <p:nvPr/>
        </p:nvSpPr>
        <p:spPr>
          <a:xfrm>
            <a:off x="6813709" y="2537282"/>
            <a:ext cx="177331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AVG. AGE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10"/>
          <p:cNvSpPr/>
          <p:nvPr/>
        </p:nvSpPr>
        <p:spPr>
          <a:xfrm>
            <a:off x="6813709" y="2643962"/>
            <a:ext cx="17733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800"/>
              <a:buFont typeface="Source Serif 4"/>
              <a:buNone/>
            </a:pPr>
            <a:r>
              <a:rPr b="1" i="0" lang="it" sz="18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~49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10"/>
          <p:cNvSpPr/>
          <p:nvPr/>
        </p:nvSpPr>
        <p:spPr>
          <a:xfrm>
            <a:off x="6813709" y="2986862"/>
            <a:ext cx="177331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AVG. RATING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10"/>
          <p:cNvSpPr/>
          <p:nvPr/>
        </p:nvSpPr>
        <p:spPr>
          <a:xfrm>
            <a:off x="6813709" y="3093542"/>
            <a:ext cx="17733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800"/>
              <a:buFont typeface="Source Serif 4"/>
              <a:buNone/>
            </a:pPr>
            <a:r>
              <a:rPr b="1" i="0" lang="it" sz="18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2003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10"/>
          <p:cNvSpPr/>
          <p:nvPr/>
        </p:nvSpPr>
        <p:spPr>
          <a:xfrm>
            <a:off x="6813709" y="3436442"/>
            <a:ext cx="1773317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9A9290"/>
                </a:solidFill>
                <a:latin typeface="Source Sans 3"/>
                <a:ea typeface="Source Sans 3"/>
                <a:cs typeface="Source Sans 3"/>
                <a:sym typeface="Source Sans 3"/>
              </a:rPr>
              <a:t>AVG. GAMES / MO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10"/>
          <p:cNvSpPr/>
          <p:nvPr/>
        </p:nvSpPr>
        <p:spPr>
          <a:xfrm>
            <a:off x="6813709" y="3543121"/>
            <a:ext cx="1773317" cy="24765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1800"/>
              <a:buFont typeface="Source Serif 4"/>
              <a:buNone/>
            </a:pPr>
            <a:r>
              <a:rPr b="1" i="0" lang="it" sz="1800" u="none" cap="none" strike="noStrike">
                <a:solidFill>
                  <a:srgbClr val="8A1E2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~0.7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10"/>
          <p:cNvSpPr/>
          <p:nvPr/>
        </p:nvSpPr>
        <p:spPr>
          <a:xfrm>
            <a:off x="571500" y="4779645"/>
            <a:ext cx="8001000" cy="4763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10"/>
          <p:cNvSpPr/>
          <p:nvPr/>
        </p:nvSpPr>
        <p:spPr>
          <a:xfrm>
            <a:off x="571500" y="4850130"/>
            <a:ext cx="2045470" cy="1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A59C9A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over-the-board chess recover after COVID-19? — Honi Arora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10"/>
          <p:cNvSpPr/>
          <p:nvPr/>
        </p:nvSpPr>
        <p:spPr>
          <a:xfrm>
            <a:off x="8499157" y="4850130"/>
            <a:ext cx="111443" cy="1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08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1"/>
          <p:cNvSpPr/>
          <p:nvPr/>
        </p:nvSpPr>
        <p:spPr>
          <a:xfrm>
            <a:off x="571500" y="445294"/>
            <a:ext cx="142875" cy="14288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5" name="Google Shape;255;p11"/>
          <p:cNvSpPr/>
          <p:nvPr/>
        </p:nvSpPr>
        <p:spPr>
          <a:xfrm>
            <a:off x="781050" y="400050"/>
            <a:ext cx="998391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SEGMENTATION · 03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p11"/>
          <p:cNvSpPr/>
          <p:nvPr/>
        </p:nvSpPr>
        <p:spPr>
          <a:xfrm>
            <a:off x="571500" y="590550"/>
            <a:ext cx="6573202" cy="5737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2000"/>
              <a:buFont typeface="Source Serif 4"/>
              <a:buNone/>
            </a:pPr>
            <a:r>
              <a:rPr b="1" i="0" lang="it" sz="2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Cluster </a:t>
            </a:r>
            <a:r>
              <a:rPr b="1" i="0" lang="it" sz="2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Graph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11"/>
          <p:cNvSpPr/>
          <p:nvPr/>
        </p:nvSpPr>
        <p:spPr>
          <a:xfrm>
            <a:off x="571500" y="1113550"/>
            <a:ext cx="4405200" cy="3291300"/>
          </a:xfrm>
          <a:prstGeom prst="roundRect">
            <a:avLst>
              <a:gd fmla="val 2268" name="adj"/>
            </a:avLst>
          </a:prstGeom>
          <a:solidFill>
            <a:srgbClr val="FCFBFB"/>
          </a:solidFill>
          <a:ln cap="flat" cmpd="sng" w="9525">
            <a:solidFill>
              <a:srgbClr val="ECE8E7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 dir="5400000" dist="152400">
              <a:srgbClr val="000000">
                <a:alpha val="40000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58" name="Google Shape;258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494" y="1143403"/>
            <a:ext cx="4405313" cy="304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1"/>
          <p:cNvSpPr/>
          <p:nvPr/>
        </p:nvSpPr>
        <p:spPr>
          <a:xfrm>
            <a:off x="5446705" y="1505823"/>
            <a:ext cx="146100" cy="146100"/>
          </a:xfrm>
          <a:prstGeom prst="roundRect">
            <a:avLst>
              <a:gd fmla="val 22222" name="adj"/>
            </a:avLst>
          </a:prstGeom>
          <a:solidFill>
            <a:srgbClr val="00BFC4"/>
          </a:solidFill>
          <a:ln>
            <a:noFill/>
          </a:ln>
        </p:spPr>
        <p:txBody>
          <a:bodyPr anchorCtr="0" anchor="ctr" bIns="78000" lIns="78000" spcFirstLastPara="1" rIns="78000" wrap="square" tIns="7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11"/>
          <p:cNvSpPr/>
          <p:nvPr/>
        </p:nvSpPr>
        <p:spPr>
          <a:xfrm>
            <a:off x="5706703" y="1444875"/>
            <a:ext cx="2590200" cy="3003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" lIns="21675" spcFirstLastPara="1" rIns="21675" wrap="square" tIns="2167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535"/>
              <a:buFont typeface="Source Serif 4"/>
              <a:buNone/>
            </a:pPr>
            <a:r>
              <a:rPr b="1" i="0" lang="it" sz="1535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Tournament Regulars</a:t>
            </a:r>
            <a:endParaRPr b="0" i="0" sz="153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11"/>
          <p:cNvSpPr/>
          <p:nvPr/>
        </p:nvSpPr>
        <p:spPr>
          <a:xfrm>
            <a:off x="5446705" y="1924256"/>
            <a:ext cx="3180000" cy="8004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" lIns="21675" spcFirstLastPara="1" rIns="21675" wrap="square" tIns="216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536"/>
              </a:buClr>
              <a:buSzPts val="1365"/>
              <a:buFont typeface="Source Sans 3"/>
              <a:buNone/>
            </a:pPr>
            <a:r>
              <a:rPr b="0" i="0" lang="it" sz="1365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Cluster 3 drops to roughly </a:t>
            </a:r>
            <a:r>
              <a:rPr b="1" i="0" lang="it" sz="1365" u="none" cap="none" strike="noStrike">
                <a:solidFill>
                  <a:srgbClr val="1D1A1B"/>
                </a:solidFill>
                <a:latin typeface="Source Sans 3"/>
                <a:ea typeface="Source Sans 3"/>
                <a:cs typeface="Source Sans 3"/>
                <a:sym typeface="Source Sans 3"/>
              </a:rPr>
              <a:t>2.5% </a:t>
            </a:r>
            <a:r>
              <a:rPr b="0" i="0" lang="it" sz="1365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of active players during COVID — then rebounds afterward.</a:t>
            </a:r>
            <a:endParaRPr b="0" i="0" sz="13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2" name="Google Shape;262;p11"/>
          <p:cNvSpPr/>
          <p:nvPr/>
        </p:nvSpPr>
        <p:spPr>
          <a:xfrm>
            <a:off x="5446705" y="2903308"/>
            <a:ext cx="3087600" cy="81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78000" lIns="78000" spcFirstLastPara="1" rIns="78000" wrap="square" tIns="780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3" name="Google Shape;263;p11"/>
          <p:cNvSpPr/>
          <p:nvPr/>
        </p:nvSpPr>
        <p:spPr>
          <a:xfrm>
            <a:off x="5446705" y="3122681"/>
            <a:ext cx="3180000" cy="544500"/>
          </a:xfrm>
          <a:prstGeom prst="rect">
            <a:avLst/>
          </a:prstGeom>
          <a:noFill/>
          <a:ln>
            <a:noFill/>
          </a:ln>
        </p:spPr>
        <p:txBody>
          <a:bodyPr anchorCtr="0" anchor="t" bIns="21675" lIns="21675" spcFirstLastPara="1" rIns="21675" wrap="square" tIns="2167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536"/>
              </a:buClr>
              <a:buSzPts val="1365"/>
              <a:buFont typeface="Source Sans 3"/>
              <a:buNone/>
            </a:pPr>
            <a:r>
              <a:rPr b="0" i="0" lang="it" sz="1365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The other three segments keep nearly the same share across all three periods.</a:t>
            </a:r>
            <a:endParaRPr b="0" i="0" sz="13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11"/>
          <p:cNvSpPr/>
          <p:nvPr/>
        </p:nvSpPr>
        <p:spPr>
          <a:xfrm>
            <a:off x="571500" y="4781550"/>
            <a:ext cx="8001000" cy="4763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5" name="Google Shape;265;p11"/>
          <p:cNvSpPr/>
          <p:nvPr/>
        </p:nvSpPr>
        <p:spPr>
          <a:xfrm>
            <a:off x="571500" y="4852988"/>
            <a:ext cx="2045487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A59C9A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over-the-board chess recover after COVID-19? — Honi Arora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11"/>
          <p:cNvSpPr/>
          <p:nvPr/>
        </p:nvSpPr>
        <p:spPr>
          <a:xfrm>
            <a:off x="8499202" y="4852988"/>
            <a:ext cx="111398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09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/>
          <p:nvPr/>
        </p:nvSpPr>
        <p:spPr>
          <a:xfrm>
            <a:off x="571500" y="445294"/>
            <a:ext cx="142800" cy="14400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3" name="Google Shape;273;p12"/>
          <p:cNvSpPr/>
          <p:nvPr/>
        </p:nvSpPr>
        <p:spPr>
          <a:xfrm>
            <a:off x="781050" y="400050"/>
            <a:ext cx="9984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SEGMENTATION · 0</a:t>
            </a:r>
            <a:r>
              <a:rPr b="1" lang="it" sz="600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4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12"/>
          <p:cNvSpPr/>
          <p:nvPr/>
        </p:nvSpPr>
        <p:spPr>
          <a:xfrm>
            <a:off x="571500" y="590550"/>
            <a:ext cx="65733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2000"/>
              <a:buFont typeface="Source Serif 4"/>
              <a:buNone/>
            </a:pPr>
            <a:r>
              <a:rPr b="1" lang="it" sz="2000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Were Clusters dependent on period?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12"/>
          <p:cNvSpPr/>
          <p:nvPr/>
        </p:nvSpPr>
        <p:spPr>
          <a:xfrm>
            <a:off x="571500" y="4781550"/>
            <a:ext cx="8001000" cy="48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6" name="Google Shape;276;p12"/>
          <p:cNvSpPr/>
          <p:nvPr/>
        </p:nvSpPr>
        <p:spPr>
          <a:xfrm>
            <a:off x="571500" y="4852988"/>
            <a:ext cx="20454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A59C9A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over-the-board chess recover after COVID-19? — Honi Arora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12"/>
          <p:cNvSpPr/>
          <p:nvPr/>
        </p:nvSpPr>
        <p:spPr>
          <a:xfrm>
            <a:off x="8499202" y="4852988"/>
            <a:ext cx="1113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10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278" name="Google Shape;278;p12"/>
          <p:cNvGraphicFramePr/>
          <p:nvPr/>
        </p:nvGraphicFramePr>
        <p:xfrm>
          <a:off x="576072" y="1300000"/>
          <a:ext cx="7991856" cy="1640000"/>
        </p:xfrm>
        <a:graphic>
          <a:graphicData uri="http://schemas.openxmlformats.org/drawingml/2006/table">
            <a:tbl>
              <a:tblPr firstRow="0" bandRow="0">
                <a:tableStyleId>{D6DA42C7-B1F0-4C58-B3E5-453CB04D3C1B}</a:tableStyleId>
              </a:tblPr>
              <a:tblGrid>
                <a:gridCol w="1371600"/>
                <a:gridCol w="1655064"/>
                <a:gridCol w="1655064"/>
                <a:gridCol w="1655064"/>
                <a:gridCol w="1655064"/>
              </a:tblGrid>
              <a:tr h="35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Period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8A1E2D"/>
                      </a:solidFill>
                      <a:prstDash val="solid"/>
                    </a:lnL>
                    <a:lnR w="12700" cap="flat">
                      <a:solidFill>
                        <a:srgbClr val="8A1E2D"/>
                      </a:solidFill>
                      <a:prstDash val="solid"/>
                    </a:lnR>
                    <a:lnT w="12700" cap="flat">
                      <a:solidFill>
                        <a:srgbClr val="8A1E2D"/>
                      </a:solidFill>
                      <a:prstDash val="solid"/>
                    </a:lnT>
                    <a:lnB w="12700" cap="flat">
                      <a:solidFill>
                        <a:srgbClr val="8A1E2D"/>
                      </a:solidFill>
                      <a:prstDash val="solid"/>
                    </a:lnB>
                    <a:solidFill>
                      <a:srgbClr val="8A1E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Young (L.A.)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8A1E2D"/>
                      </a:solidFill>
                      <a:prstDash val="solid"/>
                    </a:lnL>
                    <a:lnR w="12700" cap="flat">
                      <a:solidFill>
                        <a:srgbClr val="8A1E2D"/>
                      </a:solidFill>
                      <a:prstDash val="solid"/>
                    </a:lnR>
                    <a:lnT w="12700" cap="flat">
                      <a:solidFill>
                        <a:srgbClr val="8A1E2D"/>
                      </a:solidFill>
                      <a:prstDash val="solid"/>
                    </a:lnT>
                    <a:lnB w="12700" cap="flat">
                      <a:solidFill>
                        <a:srgbClr val="8A1E2D"/>
                      </a:solidFill>
                      <a:prstDash val="solid"/>
                    </a:lnB>
                    <a:solidFill>
                      <a:srgbClr val="8A1E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Seniors (L.A.)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8A1E2D"/>
                      </a:solidFill>
                      <a:prstDash val="solid"/>
                    </a:lnL>
                    <a:lnR w="12700" cap="flat">
                      <a:solidFill>
                        <a:srgbClr val="8A1E2D"/>
                      </a:solidFill>
                      <a:prstDash val="solid"/>
                    </a:lnR>
                    <a:lnT w="12700" cap="flat">
                      <a:solidFill>
                        <a:srgbClr val="8A1E2D"/>
                      </a:solidFill>
                      <a:prstDash val="solid"/>
                    </a:lnT>
                    <a:lnB w="12700" cap="flat">
                      <a:solidFill>
                        <a:srgbClr val="8A1E2D"/>
                      </a:solidFill>
                      <a:prstDash val="solid"/>
                    </a:lnB>
                    <a:solidFill>
                      <a:srgbClr val="8A1E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Regulars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8A1E2D"/>
                      </a:solidFill>
                      <a:prstDash val="solid"/>
                    </a:lnL>
                    <a:lnR w="12700" cap="flat">
                      <a:solidFill>
                        <a:srgbClr val="8A1E2D"/>
                      </a:solidFill>
                      <a:prstDash val="solid"/>
                    </a:lnR>
                    <a:lnT w="12700" cap="flat">
                      <a:solidFill>
                        <a:srgbClr val="8A1E2D"/>
                      </a:solidFill>
                      <a:prstDash val="solid"/>
                    </a:lnT>
                    <a:lnB w="12700" cap="flat">
                      <a:solidFill>
                        <a:srgbClr val="8A1E2D"/>
                      </a:solidFill>
                      <a:prstDash val="solid"/>
                    </a:lnB>
                    <a:solidFill>
                      <a:srgbClr val="8A1E2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00" u="none" strike="noStrike">
                          <a:solidFill>
                            <a:srgbClr val="FFFFFF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Strong (L.A.)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8A1E2D"/>
                      </a:solidFill>
                      <a:prstDash val="solid"/>
                    </a:lnL>
                    <a:lnR w="12700" cap="flat">
                      <a:solidFill>
                        <a:srgbClr val="8A1E2D"/>
                      </a:solidFill>
                      <a:prstDash val="solid"/>
                    </a:lnR>
                    <a:lnT w="12700" cap="flat">
                      <a:solidFill>
                        <a:srgbClr val="8A1E2D"/>
                      </a:solidFill>
                      <a:prstDash val="solid"/>
                    </a:lnT>
                    <a:lnB w="12700" cap="flat">
                      <a:solidFill>
                        <a:srgbClr val="8A1E2D"/>
                      </a:solidFill>
                      <a:prstDash val="solid"/>
                    </a:lnB>
                    <a:solidFill>
                      <a:srgbClr val="8A1E2D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Pre-Covid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i="0" lang="en-US" sz="13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103,225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30.7%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i="0" lang="en-US" sz="13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86,535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25.7%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i="0" lang="en-US" sz="13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65,903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19.6%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i="0" lang="en-US" sz="13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81,084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24.1%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Covid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i="0" lang="en-US" sz="13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129,812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38.3%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i="0" lang="en-US" sz="13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105,625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31.1%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i="0" lang="en-US" sz="13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8,331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2.5%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i="0" lang="en-US" sz="13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95,555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28.2%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430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5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Post-Covid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i="0" lang="en-US" sz="13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111,208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30.5%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i="0" lang="en-US" sz="13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95,141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26.1%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i="0" lang="en-US" sz="13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66,879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18.3%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200"/>
                        </a:spcAft>
                        <a:buNone/>
                      </a:pPr>
                      <a:r>
                        <a:rPr b="1" i="0" lang="en-US" sz="1300" u="none" strike="noStrike">
                          <a:solidFill>
                            <a:srgbClr val="1D1A1B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91,246</a:t>
                      </a:r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000" u="none" strike="noStrike">
                          <a:solidFill>
                            <a:srgbClr val="8A6A6E"/>
                          </a:solidFill>
                          <a:latin typeface="Source Sans 3"/>
                          <a:ea typeface="Source Sans 3"/>
                          <a:cs typeface="Source Sans 3"/>
                          <a:sym typeface="Source Sans 3"/>
                        </a:rPr>
                        <a:t>25.0%</a:t>
                      </a:r>
                    </a:p>
                  </a:txBody>
                  <a:tcPr marL="45720" marR="45720" marT="27432" marB="27432" anchor="ctr">
                    <a:lnL w="12700" cap="flat">
                      <a:solidFill>
                        <a:srgbClr val="E4DEDD"/>
                      </a:solidFill>
                      <a:prstDash val="solid"/>
                    </a:lnL>
                    <a:lnR w="12700" cap="flat">
                      <a:solidFill>
                        <a:srgbClr val="E4DEDD"/>
                      </a:solidFill>
                      <a:prstDash val="solid"/>
                    </a:lnR>
                    <a:lnT w="12700" cap="flat">
                      <a:solidFill>
                        <a:srgbClr val="E4DEDD"/>
                      </a:solidFill>
                      <a:prstDash val="solid"/>
                    </a:lnT>
                    <a:lnB w="12700" cap="flat">
                      <a:solidFill>
                        <a:srgbClr val="E4DEDD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84" name="Google Shape;284;p12"/>
          <p:cNvSpPr txBox="1"/>
          <p:nvPr/>
        </p:nvSpPr>
        <p:spPr>
          <a:xfrm>
            <a:off x="7144800" y="817025"/>
            <a:ext cx="1118400" cy="30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it" sz="1000"/>
              <a:t>LA-low activity </a:t>
            </a:r>
            <a:endParaRPr sz="1000"/>
          </a:p>
        </p:txBody>
      </p:sp>
      <p:sp>
        <p:nvSpPr>
          <p:cNvPr id="285" name="Stat Card"/>
          <p:cNvSpPr/>
          <p:nvPr/>
        </p:nvSpPr>
        <p:spPr>
          <a:xfrm>
            <a:off x="576072" y="3070000"/>
            <a:ext cx="3850000" cy="1520000"/>
          </a:xfrm>
          <a:prstGeom prst="roundRect">
            <a:avLst>
              <a:gd fmla="val 7000" name="adj"/>
            </a:avLst>
          </a:prstGeom>
          <a:solidFill>
            <a:srgbClr val="FAF6F5"/>
          </a:solidFill>
          <a:ln cap="flat" cmpd="sng" w="12700">
            <a:solidFill>
              <a:srgbClr val="EFE3E2"/>
            </a:solidFill>
            <a:prstDash val="solid"/>
            <a:round/>
          </a:ln>
        </p:spPr>
        <p:txBody>
          <a:bodyPr anchorCtr="0" anchor="t" bIns="91440" lIns="137160" rIns="137160" tIns="91440" wrap="square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i="0" lang="en-US" sz="850" u="none" strike="noStrike" spc="160">
                <a:solidFill>
                  <a:srgbClr val="9A8E8C"/>
                </a:solidFill>
                <a:latin typeface="Source Sans 3"/>
                <a:ea typeface="Source Sans 3"/>
                <a:cs typeface="Source Sans 3"/>
                <a:sym typeface="Source Sans 3"/>
              </a:rPr>
              <a:t>PEARSON’S CHI-SQUARED TEST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b="1" i="0" lang="en-US" sz="1900" u="none" strike="noStrike">
                <a:solidFill>
                  <a:srgbClr val="8A1E2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χ² = 53,535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550"/>
              </a:spcAft>
              <a:buNone/>
            </a:pPr>
            <a:r>
              <a:rPr b="0" i="0" lang="en-US" sz="1100" u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df = 6      ·      p-value &lt; .001</a:t>
            </a:r>
          </a:p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strike="noStrike">
                <a:solidFill>
                  <a:srgbClr val="1D1A1B"/>
                </a:solidFill>
                <a:latin typeface="Source Sans 3"/>
                <a:ea typeface="Source Sans 3"/>
                <a:cs typeface="Source Sans 3"/>
                <a:sym typeface="Source Sans 3"/>
              </a:rPr>
              <a:t>Cramer’s V = 0.16</a:t>
            </a:r>
            <a:r>
              <a:rPr b="0" i="0" lang="en-US" sz="1050" u="none" strike="noStrike">
                <a:solidFill>
                  <a:srgbClr val="9A8E8C"/>
                </a:solidFill>
                <a:latin typeface="Source Sans 3"/>
                <a:ea typeface="Source Sans 3"/>
                <a:cs typeface="Source Sans 3"/>
                <a:sym typeface="Source Sans 3"/>
              </a:rPr>
              <a:t>   ·   moderate–weak</a:t>
            </a:r>
          </a:p>
        </p:txBody>
      </p:sp>
      <p:sp>
        <p:nvSpPr>
          <p:cNvPr id="286" name="V Track"/>
          <p:cNvSpPr/>
          <p:nvPr/>
        </p:nvSpPr>
        <p:spPr>
          <a:xfrm>
            <a:off x="713232" y="4390000"/>
            <a:ext cx="3575680" cy="82000"/>
          </a:xfrm>
          <a:prstGeom prst="roundRect">
            <a:avLst>
              <a:gd fmla="val 50000" name="adj"/>
            </a:avLst>
          </a:prstGeom>
          <a:solidFill>
            <a:srgbClr val="EBDFE0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7" name="V Fill"/>
          <p:cNvSpPr/>
          <p:nvPr/>
        </p:nvSpPr>
        <p:spPr>
          <a:xfrm>
            <a:off x="713232" y="4390000"/>
            <a:ext cx="573539" cy="82000"/>
          </a:xfrm>
          <a:prstGeom prst="roundRect">
            <a:avLst>
              <a:gd fmla="val 50000" name="adj"/>
            </a:avLst>
          </a:prstGeom>
          <a:solidFill>
            <a:srgbClr val="8A1E2D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288" name="Interpretation"/>
          <p:cNvSpPr/>
          <p:nvPr/>
        </p:nvSpPr>
        <p:spPr>
          <a:xfrm>
            <a:off x="4576072" y="3070000"/>
            <a:ext cx="3991856" cy="1520000"/>
          </a:xfrm>
          <a:prstGeom prst="roundRect">
            <a:avLst>
              <a:gd fmla="val 7000" name="adj"/>
            </a:avLst>
          </a:prstGeom>
          <a:solidFill>
            <a:srgbClr val="FCFBFB"/>
          </a:solidFill>
          <a:ln cap="flat" cmpd="sng" w="12700">
            <a:solidFill>
              <a:srgbClr val="ECE8E7"/>
            </a:solidFill>
            <a:prstDash val="solid"/>
            <a:round/>
          </a:ln>
        </p:spPr>
        <p:txBody>
          <a:bodyPr anchorCtr="0" anchor="ctr" bIns="91440" lIns="137160" rIns="137160" tIns="91440" wrap="square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500"/>
              </a:spcAft>
              <a:buNone/>
            </a:pPr>
            <a:r>
              <a:rPr b="1" i="0" lang="en-US" sz="850" u="none" strike="noStrike" spc="160">
                <a:solidFill>
                  <a:srgbClr val="9A8E8C"/>
                </a:solidFill>
                <a:latin typeface="Source Sans 3"/>
                <a:ea typeface="Source Sans 3"/>
                <a:cs typeface="Source Sans 3"/>
                <a:sym typeface="Source Sans 3"/>
              </a:rPr>
              <a:t>INTERPRETATION</a:t>
            </a: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Period and cluster membership are significantly associated (p &lt; 0.001), but with a moderate-to-weak effect (Cramer’s V = 0.16).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13"/>
          <p:cNvSpPr/>
          <p:nvPr/>
        </p:nvSpPr>
        <p:spPr>
          <a:xfrm>
            <a:off x="571500" y="445294"/>
            <a:ext cx="142875" cy="14288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13"/>
          <p:cNvSpPr/>
          <p:nvPr/>
        </p:nvSpPr>
        <p:spPr>
          <a:xfrm>
            <a:off x="781050" y="400050"/>
            <a:ext cx="628200" cy="123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FINDING · 02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2" name="Google Shape;292;p13"/>
          <p:cNvSpPr/>
          <p:nvPr/>
        </p:nvSpPr>
        <p:spPr>
          <a:xfrm>
            <a:off x="571500" y="590550"/>
            <a:ext cx="6573202" cy="57373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2000"/>
              <a:buFont typeface="Source Serif 4"/>
              <a:buNone/>
            </a:pPr>
            <a:r>
              <a:rPr b="1" i="0" lang="it" sz="2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Growth of Active Players since 2015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13"/>
          <p:cNvSpPr/>
          <p:nvPr/>
        </p:nvSpPr>
        <p:spPr>
          <a:xfrm>
            <a:off x="571500" y="1113550"/>
            <a:ext cx="4218900" cy="3082800"/>
          </a:xfrm>
          <a:prstGeom prst="roundRect">
            <a:avLst>
              <a:gd fmla="val 2268" name="adj"/>
            </a:avLst>
          </a:prstGeom>
          <a:solidFill>
            <a:srgbClr val="FCFBFB"/>
          </a:solidFill>
          <a:ln cap="flat" cmpd="sng" w="9525">
            <a:solidFill>
              <a:srgbClr val="ECE8E7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 dir="5400000" dist="152400">
              <a:srgbClr val="000000">
                <a:alpha val="40000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294" name="Google Shape;29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8175" y="1186212"/>
            <a:ext cx="4152214" cy="3010113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13"/>
          <p:cNvSpPr/>
          <p:nvPr/>
        </p:nvSpPr>
        <p:spPr>
          <a:xfrm>
            <a:off x="5459925" y="1301880"/>
            <a:ext cx="1239000" cy="455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25" lIns="20925" spcFirstLastPara="1" rIns="20925" wrap="square" tIns="2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2471"/>
              <a:buFont typeface="Source Serif 4"/>
              <a:buNone/>
            </a:pPr>
            <a:r>
              <a:rPr b="1" i="0" lang="it" sz="2471" u="none" cap="none" strike="noStrike">
                <a:solidFill>
                  <a:srgbClr val="9A929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115,546</a:t>
            </a:r>
            <a:endParaRPr b="0" i="0" sz="2471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13"/>
          <p:cNvSpPr/>
          <p:nvPr/>
        </p:nvSpPr>
        <p:spPr>
          <a:xfrm>
            <a:off x="6711699" y="1443090"/>
            <a:ext cx="235200" cy="2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25" lIns="20925" spcFirstLastPara="1" rIns="20925" wrap="square" tIns="2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0A7"/>
              </a:buClr>
              <a:buSzPts val="1318"/>
              <a:buFont typeface="Source Serif 4"/>
              <a:buNone/>
            </a:pPr>
            <a:r>
              <a:rPr b="1" i="0" lang="it" sz="1318" u="none" cap="none" strike="noStrike">
                <a:solidFill>
                  <a:srgbClr val="C9A0A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→</a:t>
            </a:r>
            <a:endParaRPr b="0" i="0" sz="1318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13"/>
          <p:cNvSpPr/>
          <p:nvPr/>
        </p:nvSpPr>
        <p:spPr>
          <a:xfrm>
            <a:off x="7009811" y="1231275"/>
            <a:ext cx="1486800" cy="5490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25" lIns="20925" spcFirstLastPara="1" rIns="20925" wrap="square" tIns="2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2965"/>
              <a:buFont typeface="Source Serif 4"/>
              <a:buNone/>
            </a:pPr>
            <a:r>
              <a:rPr b="1" i="0" lang="it" sz="2965" u="none" cap="none" strike="noStrike">
                <a:solidFill>
                  <a:srgbClr val="8A1E2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217,459</a:t>
            </a:r>
            <a:endParaRPr b="0" i="0" sz="296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13"/>
          <p:cNvSpPr/>
          <p:nvPr/>
        </p:nvSpPr>
        <p:spPr>
          <a:xfrm>
            <a:off x="5459925" y="1843186"/>
            <a:ext cx="32796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25" lIns="20925" spcFirstLastPara="1" rIns="20925" wrap="square" tIns="2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1153"/>
              <a:buFont typeface="Source Sans 3"/>
              <a:buNone/>
            </a:pPr>
            <a:r>
              <a:rPr b="0" i="0" lang="it" sz="1153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active players, 2015 → 2026</a:t>
            </a:r>
            <a:endParaRPr b="0" i="0" sz="11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13"/>
          <p:cNvSpPr/>
          <p:nvPr/>
        </p:nvSpPr>
        <p:spPr>
          <a:xfrm>
            <a:off x="5459925" y="2306042"/>
            <a:ext cx="2980800" cy="81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75325" lIns="75325" spcFirstLastPara="1" rIns="75325" wrap="square" tIns="753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0" name="Google Shape;300;p13"/>
          <p:cNvSpPr/>
          <p:nvPr/>
        </p:nvSpPr>
        <p:spPr>
          <a:xfrm>
            <a:off x="5459925" y="2580617"/>
            <a:ext cx="3279600" cy="4707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25" lIns="20925" spcFirstLastPara="1" rIns="20925" wrap="square" tIns="2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3459"/>
              <a:buFont typeface="Source Serif 4"/>
              <a:buNone/>
            </a:pPr>
            <a:r>
              <a:rPr b="1" i="0" lang="it" sz="3459" u="none" cap="none" strike="noStrike">
                <a:solidFill>
                  <a:srgbClr val="8A1E2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≈ 88%</a:t>
            </a:r>
            <a:endParaRPr b="0" i="0" sz="3459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13"/>
          <p:cNvSpPr/>
          <p:nvPr/>
        </p:nvSpPr>
        <p:spPr>
          <a:xfrm>
            <a:off x="5459925" y="3082698"/>
            <a:ext cx="3279600" cy="2271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25" lIns="20925" spcFirstLastPara="1" rIns="20925" wrap="square" tIns="209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1153"/>
              <a:buFont typeface="Source Sans 3"/>
              <a:buNone/>
            </a:pPr>
            <a:r>
              <a:rPr b="0" i="0" lang="it" sz="1153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growth since 2015, even through the COVID dip</a:t>
            </a:r>
            <a:endParaRPr b="0" i="0" sz="11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13"/>
          <p:cNvSpPr/>
          <p:nvPr/>
        </p:nvSpPr>
        <p:spPr>
          <a:xfrm>
            <a:off x="5459925" y="3426924"/>
            <a:ext cx="30705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20925" lIns="20925" spcFirstLastPara="1" rIns="20925" wrap="square" tIns="20925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536"/>
              </a:buClr>
              <a:buSzPts val="1153"/>
              <a:buFont typeface="Source Sans 3"/>
              <a:buNone/>
            </a:pPr>
            <a:r>
              <a:rPr b="0" i="0" lang="it" sz="1153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Active players are those with more than one rated tournament game per year. (Fide Handbook)</a:t>
            </a:r>
            <a:endParaRPr b="0" i="0" sz="115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13"/>
          <p:cNvSpPr/>
          <p:nvPr/>
        </p:nvSpPr>
        <p:spPr>
          <a:xfrm>
            <a:off x="571500" y="4781550"/>
            <a:ext cx="8001000" cy="4763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4" name="Google Shape;304;p13"/>
          <p:cNvSpPr/>
          <p:nvPr/>
        </p:nvSpPr>
        <p:spPr>
          <a:xfrm>
            <a:off x="571500" y="4852988"/>
            <a:ext cx="2045487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A59C9A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over-the-board chess recover after COVID-19? — Honi Arora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13"/>
          <p:cNvSpPr/>
          <p:nvPr/>
        </p:nvSpPr>
        <p:spPr>
          <a:xfrm>
            <a:off x="8499202" y="4852988"/>
            <a:ext cx="111398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11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4"/>
          <p:cNvSpPr/>
          <p:nvPr/>
        </p:nvSpPr>
        <p:spPr>
          <a:xfrm>
            <a:off x="571500" y="445294"/>
            <a:ext cx="142875" cy="14288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2" name="Google Shape;312;p14"/>
          <p:cNvSpPr/>
          <p:nvPr/>
        </p:nvSpPr>
        <p:spPr>
          <a:xfrm>
            <a:off x="781050" y="400050"/>
            <a:ext cx="62805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FINDING · 03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14"/>
          <p:cNvSpPr/>
          <p:nvPr/>
        </p:nvSpPr>
        <p:spPr>
          <a:xfrm>
            <a:off x="571500" y="590550"/>
            <a:ext cx="7869600" cy="5736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2000"/>
              <a:buFont typeface="Source Serif 4"/>
              <a:buNone/>
            </a:pPr>
            <a:r>
              <a:rPr b="1" i="0" lang="it" sz="20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Player Rating Distribution</a:t>
            </a:r>
            <a:endParaRPr b="0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14"/>
          <p:cNvSpPr/>
          <p:nvPr/>
        </p:nvSpPr>
        <p:spPr>
          <a:xfrm>
            <a:off x="571500" y="1113550"/>
            <a:ext cx="4473900" cy="3043200"/>
          </a:xfrm>
          <a:prstGeom prst="roundRect">
            <a:avLst>
              <a:gd fmla="val 2181" name="adj"/>
            </a:avLst>
          </a:prstGeom>
          <a:solidFill>
            <a:srgbClr val="FCFBFB"/>
          </a:solidFill>
          <a:ln cap="flat" cmpd="sng" w="9525">
            <a:solidFill>
              <a:srgbClr val="ECE8E7"/>
            </a:solidFill>
            <a:prstDash val="solid"/>
            <a:round/>
            <a:headEnd len="sm" w="sm" type="none"/>
            <a:tailEnd len="sm" w="sm" type="none"/>
          </a:ln>
          <a:effectLst>
            <a:outerShdw blurRad="342900" rotWithShape="0" algn="bl" dir="5400000" dist="152400">
              <a:srgbClr val="000000">
                <a:alpha val="40000"/>
              </a:srgbClr>
            </a:outerShdw>
          </a:effectLst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5" name="Google Shape;315;p14"/>
          <p:cNvSpPr/>
          <p:nvPr/>
        </p:nvSpPr>
        <p:spPr>
          <a:xfrm>
            <a:off x="5720925" y="1164149"/>
            <a:ext cx="7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300" lIns="19300" spcFirstLastPara="1" rIns="19300" wrap="square" tIns="1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2582"/>
              <a:buFont typeface="Source Serif 4"/>
              <a:buNone/>
            </a:pPr>
            <a:r>
              <a:rPr b="1" i="0" lang="it" sz="2582" u="none" cap="none" strike="noStrike">
                <a:solidFill>
                  <a:srgbClr val="9A929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1799</a:t>
            </a:r>
            <a:endParaRPr b="0" i="0" sz="25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14"/>
          <p:cNvSpPr/>
          <p:nvPr/>
        </p:nvSpPr>
        <p:spPr>
          <a:xfrm>
            <a:off x="6564714" y="1344977"/>
            <a:ext cx="216900" cy="2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19300" lIns="19300" spcFirstLastPara="1" rIns="19300" wrap="square" tIns="1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0A7"/>
              </a:buClr>
              <a:buSzPts val="1215"/>
              <a:buFont typeface="Source Serif 4"/>
              <a:buNone/>
            </a:pPr>
            <a:r>
              <a:rPr b="1" i="0" lang="it" sz="1215" u="none" cap="none" strike="noStrike">
                <a:solidFill>
                  <a:srgbClr val="C9A0A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→</a:t>
            </a:r>
            <a:endParaRPr b="0" i="0" sz="12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14"/>
          <p:cNvSpPr/>
          <p:nvPr/>
        </p:nvSpPr>
        <p:spPr>
          <a:xfrm>
            <a:off x="6839572" y="1164149"/>
            <a:ext cx="7860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300" lIns="19300" spcFirstLastPara="1" rIns="19300" wrap="square" tIns="1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2582"/>
              <a:buFont typeface="Source Serif 4"/>
              <a:buNone/>
            </a:pPr>
            <a:r>
              <a:rPr b="1" i="0" lang="it" sz="2582" u="none" cap="none" strike="noStrike">
                <a:solidFill>
                  <a:srgbClr val="8A1E2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1737</a:t>
            </a:r>
            <a:endParaRPr b="0" i="0" sz="2582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14"/>
          <p:cNvSpPr/>
          <p:nvPr/>
        </p:nvSpPr>
        <p:spPr>
          <a:xfrm>
            <a:off x="5720925" y="1677700"/>
            <a:ext cx="2928000" cy="390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300" lIns="19300" spcFirstLastPara="1" rIns="19300" wrap="square" tIns="1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1063"/>
              <a:buFont typeface="Source Sans 3"/>
              <a:buNone/>
            </a:pPr>
            <a:r>
              <a:rPr b="0" i="0" lang="it" sz="1063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mean rating, 2015 → 2026 · SD (310 vs 224)</a:t>
            </a:r>
            <a:endParaRPr b="0" i="0" sz="1063" u="none" cap="none" strike="noStrike">
              <a:solidFill>
                <a:srgbClr val="6B6360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1063"/>
              <a:buFont typeface="Source Sans 3"/>
              <a:buNone/>
            </a:pPr>
            <a:r>
              <a:t/>
            </a:r>
            <a:endParaRPr b="0" i="0" sz="10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4"/>
          <p:cNvSpPr/>
          <p:nvPr/>
        </p:nvSpPr>
        <p:spPr>
          <a:xfrm>
            <a:off x="5720925" y="2061054"/>
            <a:ext cx="2661900" cy="72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69450" lIns="69450" spcFirstLastPara="1" rIns="69450" wrap="square" tIns="6945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26"/>
              <a:buFont typeface="Arial"/>
              <a:buNone/>
            </a:pPr>
            <a:r>
              <a:t/>
            </a:r>
            <a:endParaRPr b="0" i="0" sz="2126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14"/>
          <p:cNvSpPr/>
          <p:nvPr/>
        </p:nvSpPr>
        <p:spPr>
          <a:xfrm>
            <a:off x="5720925" y="2270831"/>
            <a:ext cx="1060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300" lIns="19300" spcFirstLastPara="1" rIns="19300" wrap="square" tIns="1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A9290"/>
              </a:buClr>
              <a:buSzPts val="1974"/>
              <a:buFont typeface="Source Serif 4"/>
              <a:buNone/>
            </a:pPr>
            <a:r>
              <a:rPr b="1" i="0" lang="it" sz="1974" u="none" cap="none" strike="noStrike">
                <a:solidFill>
                  <a:srgbClr val="9A9290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115,546</a:t>
            </a:r>
            <a:endParaRPr b="0" i="0" sz="19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4"/>
          <p:cNvSpPr/>
          <p:nvPr/>
        </p:nvSpPr>
        <p:spPr>
          <a:xfrm>
            <a:off x="6719322" y="2372077"/>
            <a:ext cx="202800" cy="2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19300" lIns="19300" spcFirstLastPara="1" rIns="19300" wrap="square" tIns="1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9A0A7"/>
              </a:buClr>
              <a:buSzPts val="1215"/>
              <a:buFont typeface="Source Serif 4"/>
              <a:buNone/>
            </a:pPr>
            <a:r>
              <a:rPr b="1" i="0" lang="it" sz="1215" u="none" cap="none" strike="noStrike">
                <a:solidFill>
                  <a:srgbClr val="C9A0A7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→</a:t>
            </a:r>
            <a:endParaRPr b="0" i="0" sz="12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14"/>
          <p:cNvSpPr/>
          <p:nvPr/>
        </p:nvSpPr>
        <p:spPr>
          <a:xfrm>
            <a:off x="6979716" y="2270831"/>
            <a:ext cx="1060800" cy="3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19300" lIns="19300" spcFirstLastPara="1" rIns="19300" wrap="square" tIns="1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974"/>
              <a:buFont typeface="Source Serif 4"/>
              <a:buNone/>
            </a:pPr>
            <a:r>
              <a:rPr b="1" i="0" lang="it" sz="1974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217,459</a:t>
            </a:r>
            <a:endParaRPr b="0" i="0" sz="1974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14"/>
          <p:cNvSpPr/>
          <p:nvPr/>
        </p:nvSpPr>
        <p:spPr>
          <a:xfrm>
            <a:off x="5720925" y="2661401"/>
            <a:ext cx="2928000" cy="209700"/>
          </a:xfrm>
          <a:prstGeom prst="rect">
            <a:avLst/>
          </a:prstGeom>
          <a:noFill/>
          <a:ln>
            <a:noFill/>
          </a:ln>
        </p:spPr>
        <p:txBody>
          <a:bodyPr anchorCtr="0" anchor="t" bIns="19300" lIns="19300" spcFirstLastPara="1" rIns="19300" wrap="square" tIns="193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B6360"/>
              </a:buClr>
              <a:buSzPts val="1063"/>
              <a:buFont typeface="Source Sans 3"/>
              <a:buNone/>
            </a:pPr>
            <a:r>
              <a:rPr b="0" i="0" lang="it" sz="1063" u="none" cap="none" strike="noStrike">
                <a:solidFill>
                  <a:srgbClr val="6B6360"/>
                </a:solidFill>
                <a:latin typeface="Source Sans 3"/>
                <a:ea typeface="Source Sans 3"/>
                <a:cs typeface="Source Sans 3"/>
                <a:sym typeface="Source Sans 3"/>
              </a:rPr>
              <a:t>active pool nearly doubled</a:t>
            </a:r>
            <a:endParaRPr b="0" i="0" sz="1063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14"/>
          <p:cNvSpPr/>
          <p:nvPr/>
        </p:nvSpPr>
        <p:spPr>
          <a:xfrm>
            <a:off x="5720925" y="3044756"/>
            <a:ext cx="2741400" cy="462900"/>
          </a:xfrm>
          <a:prstGeom prst="rect">
            <a:avLst/>
          </a:prstGeom>
          <a:noFill/>
          <a:ln>
            <a:noFill/>
          </a:ln>
        </p:spPr>
        <p:txBody>
          <a:bodyPr anchorCtr="0" anchor="t" bIns="19300" lIns="19300" spcFirstLastPara="1" rIns="19300" wrap="square" tIns="193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3A3536"/>
              </a:buClr>
              <a:buSzPts val="1215"/>
              <a:buFont typeface="Source Sans 3"/>
              <a:buNone/>
            </a:pPr>
            <a:r>
              <a:rPr b="0" i="0" lang="it" sz="1215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New, lower-rated players now make up a larger share of the pool.</a:t>
            </a:r>
            <a:endParaRPr b="0" i="0" sz="1215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14"/>
          <p:cNvSpPr/>
          <p:nvPr/>
        </p:nvSpPr>
        <p:spPr>
          <a:xfrm>
            <a:off x="571500" y="4781550"/>
            <a:ext cx="8001000" cy="4763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6" name="Google Shape;326;p14"/>
          <p:cNvSpPr/>
          <p:nvPr/>
        </p:nvSpPr>
        <p:spPr>
          <a:xfrm>
            <a:off x="571500" y="4852988"/>
            <a:ext cx="2045487" cy="11906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A59C9A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over-the-board chess recover after COVID-19? — Honi Arora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14"/>
          <p:cNvSpPr/>
          <p:nvPr/>
        </p:nvSpPr>
        <p:spPr>
          <a:xfrm>
            <a:off x="8499202" y="4852988"/>
            <a:ext cx="111300" cy="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12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28" name="Google Shape;328;p14" title="standarddis..png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71500" y="1151600"/>
            <a:ext cx="4473775" cy="3005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5"/>
          <p:cNvSpPr/>
          <p:nvPr/>
        </p:nvSpPr>
        <p:spPr>
          <a:xfrm>
            <a:off x="571500" y="446247"/>
            <a:ext cx="142875" cy="14288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5" name="Google Shape;335;p15"/>
          <p:cNvSpPr/>
          <p:nvPr/>
        </p:nvSpPr>
        <p:spPr>
          <a:xfrm>
            <a:off x="781050" y="400050"/>
            <a:ext cx="709785" cy="12573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CONCLUSIONS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15"/>
          <p:cNvSpPr/>
          <p:nvPr/>
        </p:nvSpPr>
        <p:spPr>
          <a:xfrm>
            <a:off x="571500" y="592455"/>
            <a:ext cx="8801100" cy="3124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2100"/>
              <a:buFont typeface="Source Serif 4"/>
              <a:buNone/>
            </a:pPr>
            <a:r>
              <a:rPr b="1" i="0" lang="it" sz="21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Conclusion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15"/>
          <p:cNvSpPr/>
          <p:nvPr/>
        </p:nvSpPr>
        <p:spPr>
          <a:xfrm>
            <a:off x="547925" y="1317067"/>
            <a:ext cx="2571900" cy="1494600"/>
          </a:xfrm>
          <a:prstGeom prst="roundRect">
            <a:avLst>
              <a:gd fmla="val 5099" name="adj"/>
            </a:avLst>
          </a:prstGeom>
          <a:solidFill>
            <a:srgbClr val="FCFBF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8" name="Google Shape;338;p15"/>
          <p:cNvSpPr/>
          <p:nvPr/>
        </p:nvSpPr>
        <p:spPr>
          <a:xfrm>
            <a:off x="547925" y="2807729"/>
            <a:ext cx="2571900" cy="48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9" name="Google Shape;339;p15"/>
          <p:cNvSpPr/>
          <p:nvPr/>
        </p:nvSpPr>
        <p:spPr>
          <a:xfrm>
            <a:off x="547925" y="1317067"/>
            <a:ext cx="2571900" cy="26700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0" name="Google Shape;340;p15"/>
          <p:cNvSpPr/>
          <p:nvPr/>
        </p:nvSpPr>
        <p:spPr>
          <a:xfrm>
            <a:off x="547925" y="1317067"/>
            <a:ext cx="4800" cy="14946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15"/>
          <p:cNvSpPr/>
          <p:nvPr/>
        </p:nvSpPr>
        <p:spPr>
          <a:xfrm>
            <a:off x="3115865" y="1317067"/>
            <a:ext cx="4800" cy="14946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2" name="Google Shape;342;p15"/>
          <p:cNvSpPr/>
          <p:nvPr/>
        </p:nvSpPr>
        <p:spPr>
          <a:xfrm>
            <a:off x="723185" y="1524711"/>
            <a:ext cx="24435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700"/>
              <a:buFont typeface="Source Sans 3"/>
              <a:buNone/>
            </a:pPr>
            <a:r>
              <a:rPr b="1" i="0" lang="it" sz="10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01 · PARTICIPATION</a:t>
            </a:r>
            <a:endParaRPr b="1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5"/>
          <p:cNvSpPr/>
          <p:nvPr/>
        </p:nvSpPr>
        <p:spPr>
          <a:xfrm>
            <a:off x="723185" y="1725689"/>
            <a:ext cx="2443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2100"/>
              <a:buFont typeface="Source Serif 4"/>
              <a:buNone/>
            </a:pPr>
            <a:r>
              <a:rPr b="1" i="0" lang="it" sz="2100" u="none" cap="none" strike="noStrike">
                <a:solidFill>
                  <a:srgbClr val="8A1E2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−⅓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15"/>
          <p:cNvSpPr/>
          <p:nvPr/>
        </p:nvSpPr>
        <p:spPr>
          <a:xfrm>
            <a:off x="723185" y="2063827"/>
            <a:ext cx="2443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100"/>
              <a:buFont typeface="Source Serif 4"/>
              <a:buNone/>
            </a:pPr>
            <a:r>
              <a:rPr b="1" i="0" lang="it" sz="11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32% → 4% → 24%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15"/>
          <p:cNvSpPr/>
          <p:nvPr/>
        </p:nvSpPr>
        <p:spPr>
          <a:xfrm>
            <a:off x="723185" y="2306714"/>
            <a:ext cx="22878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36"/>
              </a:buClr>
              <a:buSzPts val="900"/>
              <a:buFont typeface="Source Sans 3"/>
              <a:buNone/>
            </a:pPr>
            <a:r>
              <a:rPr b="0" i="0" lang="it" sz="1100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Collapsed during COVID, only partly back by 2026.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15"/>
          <p:cNvSpPr/>
          <p:nvPr/>
        </p:nvSpPr>
        <p:spPr>
          <a:xfrm>
            <a:off x="3262550" y="1317067"/>
            <a:ext cx="2571900" cy="1494600"/>
          </a:xfrm>
          <a:prstGeom prst="roundRect">
            <a:avLst>
              <a:gd fmla="val 5099" name="adj"/>
            </a:avLst>
          </a:prstGeom>
          <a:solidFill>
            <a:srgbClr val="FCFBF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7" name="Google Shape;347;p15"/>
          <p:cNvSpPr/>
          <p:nvPr/>
        </p:nvSpPr>
        <p:spPr>
          <a:xfrm>
            <a:off x="3262550" y="2807729"/>
            <a:ext cx="2571900" cy="48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15"/>
          <p:cNvSpPr/>
          <p:nvPr/>
        </p:nvSpPr>
        <p:spPr>
          <a:xfrm>
            <a:off x="3262550" y="1317067"/>
            <a:ext cx="2571900" cy="26700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15"/>
          <p:cNvSpPr/>
          <p:nvPr/>
        </p:nvSpPr>
        <p:spPr>
          <a:xfrm>
            <a:off x="3262550" y="1317067"/>
            <a:ext cx="4800" cy="14946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0" name="Google Shape;350;p15"/>
          <p:cNvSpPr/>
          <p:nvPr/>
        </p:nvSpPr>
        <p:spPr>
          <a:xfrm>
            <a:off x="5830490" y="1317067"/>
            <a:ext cx="4800" cy="14946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1" name="Google Shape;351;p15"/>
          <p:cNvSpPr/>
          <p:nvPr/>
        </p:nvSpPr>
        <p:spPr>
          <a:xfrm>
            <a:off x="3437810" y="1524711"/>
            <a:ext cx="24435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700"/>
              <a:buFont typeface="Source Sans 3"/>
              <a:buNone/>
            </a:pPr>
            <a:r>
              <a:rPr b="1" i="0" lang="it" sz="10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02 · POOL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15"/>
          <p:cNvSpPr/>
          <p:nvPr/>
        </p:nvSpPr>
        <p:spPr>
          <a:xfrm>
            <a:off x="3437873" y="1725689"/>
            <a:ext cx="2443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2100"/>
              <a:buFont typeface="Source Serif 4"/>
              <a:buNone/>
            </a:pPr>
            <a:r>
              <a:rPr b="1" i="0" lang="it" sz="2100" u="none" cap="none" strike="noStrike">
                <a:solidFill>
                  <a:srgbClr val="8A1E2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×2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15"/>
          <p:cNvSpPr/>
          <p:nvPr/>
        </p:nvSpPr>
        <p:spPr>
          <a:xfrm>
            <a:off x="3437810" y="2063827"/>
            <a:ext cx="2443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100"/>
              <a:buFont typeface="Source Serif 4"/>
              <a:buNone/>
            </a:pPr>
            <a:r>
              <a:rPr b="1" i="0" lang="it" sz="11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116k → 217k players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15"/>
          <p:cNvSpPr/>
          <p:nvPr/>
        </p:nvSpPr>
        <p:spPr>
          <a:xfrm>
            <a:off x="3437810" y="2306714"/>
            <a:ext cx="2287800" cy="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36"/>
              </a:buClr>
              <a:buSzPts val="900"/>
              <a:buFont typeface="Source Sans 3"/>
              <a:buNone/>
            </a:pPr>
            <a:r>
              <a:rPr b="0" i="0" lang="it" sz="1100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Players nearly doubled, but average rating fell (1799 → 1737).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15"/>
          <p:cNvSpPr/>
          <p:nvPr/>
        </p:nvSpPr>
        <p:spPr>
          <a:xfrm>
            <a:off x="5977175" y="1317067"/>
            <a:ext cx="2571900" cy="1494600"/>
          </a:xfrm>
          <a:prstGeom prst="roundRect">
            <a:avLst>
              <a:gd fmla="val 5099" name="adj"/>
            </a:avLst>
          </a:prstGeom>
          <a:solidFill>
            <a:srgbClr val="FCFBFB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6" name="Google Shape;356;p15"/>
          <p:cNvSpPr/>
          <p:nvPr/>
        </p:nvSpPr>
        <p:spPr>
          <a:xfrm>
            <a:off x="5977175" y="2807729"/>
            <a:ext cx="2571900" cy="48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15"/>
          <p:cNvSpPr/>
          <p:nvPr/>
        </p:nvSpPr>
        <p:spPr>
          <a:xfrm>
            <a:off x="5977175" y="1317067"/>
            <a:ext cx="2571900" cy="26700"/>
          </a:xfrm>
          <a:prstGeom prst="rect">
            <a:avLst/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8" name="Google Shape;358;p15"/>
          <p:cNvSpPr/>
          <p:nvPr/>
        </p:nvSpPr>
        <p:spPr>
          <a:xfrm>
            <a:off x="5977175" y="1317067"/>
            <a:ext cx="4800" cy="14946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9" name="Google Shape;359;p15"/>
          <p:cNvSpPr/>
          <p:nvPr/>
        </p:nvSpPr>
        <p:spPr>
          <a:xfrm>
            <a:off x="8545115" y="1317067"/>
            <a:ext cx="4800" cy="1494600"/>
          </a:xfrm>
          <a:prstGeom prst="rect">
            <a:avLst/>
          </a:prstGeom>
          <a:solidFill>
            <a:srgbClr val="ECE8E7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0" name="Google Shape;360;p15"/>
          <p:cNvSpPr/>
          <p:nvPr/>
        </p:nvSpPr>
        <p:spPr>
          <a:xfrm>
            <a:off x="6152435" y="1524711"/>
            <a:ext cx="2443500" cy="1485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700"/>
              <a:buFont typeface="Source Sans 3"/>
              <a:buNone/>
            </a:pPr>
            <a:r>
              <a:rPr b="1" i="0" lang="it" sz="10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03 · Clusters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15"/>
          <p:cNvSpPr/>
          <p:nvPr/>
        </p:nvSpPr>
        <p:spPr>
          <a:xfrm>
            <a:off x="6152585" y="1725602"/>
            <a:ext cx="2443500" cy="2859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2100"/>
              <a:buFont typeface="Source Serif 4"/>
              <a:buNone/>
            </a:pPr>
            <a:r>
              <a:rPr b="1" i="0" lang="it" sz="2100" u="none" cap="none" strike="noStrike">
                <a:solidFill>
                  <a:srgbClr val="8A1E2D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86%</a:t>
            </a:r>
            <a:endParaRPr b="0" i="0" sz="2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15"/>
          <p:cNvSpPr/>
          <p:nvPr/>
        </p:nvSpPr>
        <p:spPr>
          <a:xfrm>
            <a:off x="6152435" y="2063827"/>
            <a:ext cx="24435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D1A1B"/>
              </a:buClr>
              <a:buSzPts val="1100"/>
              <a:buFont typeface="Source Serif 4"/>
              <a:buNone/>
            </a:pPr>
            <a:r>
              <a:rPr b="1" i="0" lang="it" sz="1100" u="none" cap="none" strike="noStrike">
                <a:solidFill>
                  <a:srgbClr val="1D1A1B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Low Activity</a:t>
            </a:r>
            <a:endParaRPr b="0" i="0" sz="11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15"/>
          <p:cNvSpPr/>
          <p:nvPr/>
        </p:nvSpPr>
        <p:spPr>
          <a:xfrm>
            <a:off x="6152425" y="2306740"/>
            <a:ext cx="2443500" cy="4317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36"/>
              </a:buClr>
              <a:buSzPts val="900"/>
              <a:buFont typeface="Source Sans 3"/>
              <a:buNone/>
            </a:pPr>
            <a:r>
              <a:rPr b="0" i="0" lang="it" sz="1100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Only 14% compete in tournaments </a:t>
            </a:r>
            <a:endParaRPr b="0" i="0" sz="1100" u="none" cap="none" strike="noStrike">
              <a:solidFill>
                <a:srgbClr val="3A3536"/>
              </a:solidFill>
              <a:latin typeface="Source Sans 3"/>
              <a:ea typeface="Source Sans 3"/>
              <a:cs typeface="Source Sans 3"/>
              <a:sym typeface="Source Sans 3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3A3536"/>
              </a:buClr>
              <a:buSzPts val="900"/>
              <a:buFont typeface="Source Sans 3"/>
              <a:buNone/>
            </a:pPr>
            <a:r>
              <a:rPr b="0" i="0" lang="it" sz="1100" u="none" cap="none" strike="noStrike">
                <a:solidFill>
                  <a:srgbClr val="3A3536"/>
                </a:solidFill>
                <a:latin typeface="Source Sans 3"/>
                <a:ea typeface="Source Sans 3"/>
                <a:cs typeface="Source Sans 3"/>
                <a:sym typeface="Source Sans 3"/>
              </a:rPr>
              <a:t>regularly </a:t>
            </a:r>
            <a:endParaRPr b="0" i="0" sz="1100" u="none" cap="none" strike="noStrike">
              <a:solidFill>
                <a:srgbClr val="3A3536"/>
              </a:solidFill>
              <a:latin typeface="Source Sans 3"/>
              <a:ea typeface="Source Sans 3"/>
              <a:cs typeface="Source Sans 3"/>
              <a:sym typeface="Source Sans 3"/>
            </a:endParaRPr>
          </a:p>
        </p:txBody>
      </p:sp>
      <p:sp>
        <p:nvSpPr>
          <p:cNvPr id="364" name="Google Shape;364;p15"/>
          <p:cNvSpPr/>
          <p:nvPr/>
        </p:nvSpPr>
        <p:spPr>
          <a:xfrm>
            <a:off x="571500" y="3224689"/>
            <a:ext cx="8001000" cy="845820"/>
          </a:xfrm>
          <a:prstGeom prst="roundRect">
            <a:avLst>
              <a:gd fmla="val 10135" name="adj"/>
            </a:avLst>
          </a:prstGeom>
          <a:solidFill>
            <a:srgbClr val="8A1E2D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5" name="Google Shape;365;p15"/>
          <p:cNvSpPr/>
          <p:nvPr/>
        </p:nvSpPr>
        <p:spPr>
          <a:xfrm>
            <a:off x="714375" y="3285000"/>
            <a:ext cx="1395300" cy="1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E9C2C8"/>
              </a:buClr>
              <a:buSzPts val="700"/>
              <a:buFont typeface="Source Sans 3"/>
              <a:buNone/>
            </a:pPr>
            <a:r>
              <a:rPr b="1" i="0" lang="it" sz="1000" u="none" cap="none" strike="noStrike">
                <a:solidFill>
                  <a:srgbClr val="E9C2C8"/>
                </a:solidFill>
                <a:latin typeface="Source Sans 3"/>
                <a:ea typeface="Source Sans 3"/>
                <a:cs typeface="Source Sans 3"/>
                <a:sym typeface="Source Sans 3"/>
              </a:rPr>
              <a:t>BOTTOM LINE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15"/>
          <p:cNvSpPr/>
          <p:nvPr/>
        </p:nvSpPr>
        <p:spPr>
          <a:xfrm>
            <a:off x="714375" y="3449425"/>
            <a:ext cx="7827300" cy="5970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500"/>
              <a:buFont typeface="Source Serif 4"/>
              <a:buNone/>
            </a:pPr>
            <a:r>
              <a:rPr b="0" i="0" lang="it" sz="15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OTB Chess grew in </a:t>
            </a:r>
            <a:r>
              <a:rPr b="0" i="1" lang="it" sz="15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size</a:t>
            </a:r>
            <a:r>
              <a:rPr b="0" i="0" lang="it" sz="15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, not in </a:t>
            </a:r>
            <a:r>
              <a:rPr b="0" i="1" lang="it" sz="15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engagement </a:t>
            </a:r>
            <a:r>
              <a:rPr b="0" i="0" lang="it" sz="15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— the post-COVID base is larger and more casual than before.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15"/>
          <p:cNvSpPr/>
          <p:nvPr/>
        </p:nvSpPr>
        <p:spPr>
          <a:xfrm>
            <a:off x="571500" y="4850130"/>
            <a:ext cx="2045470" cy="1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9C9A"/>
              </a:buClr>
              <a:buSzPts val="600"/>
              <a:buFont typeface="Source Sans 3"/>
              <a:buNone/>
            </a:pPr>
            <a:r>
              <a:rPr b="0" i="0" lang="it" sz="600" u="none" cap="none" strike="noStrike">
                <a:solidFill>
                  <a:srgbClr val="A59C9A"/>
                </a:solidFill>
                <a:latin typeface="Source Sans 3"/>
                <a:ea typeface="Source Sans 3"/>
                <a:cs typeface="Source Sans 3"/>
                <a:sym typeface="Source Sans 3"/>
              </a:rPr>
              <a:t>Did over-the-board chess recover after COVID-19? — Honi Arora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15"/>
          <p:cNvSpPr/>
          <p:nvPr/>
        </p:nvSpPr>
        <p:spPr>
          <a:xfrm>
            <a:off x="8499157" y="4850130"/>
            <a:ext cx="111443" cy="12192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A1E2D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8A1E2D"/>
                </a:solidFill>
                <a:latin typeface="Source Sans 3"/>
                <a:ea typeface="Source Sans 3"/>
                <a:cs typeface="Source Sans 3"/>
                <a:sym typeface="Source Sans 3"/>
              </a:rPr>
              <a:t>13</a:t>
            </a:r>
            <a:endParaRPr b="0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8A1E2D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6"/>
          <p:cNvSpPr/>
          <p:nvPr/>
        </p:nvSpPr>
        <p:spPr>
          <a:xfrm>
            <a:off x="571500" y="1923604"/>
            <a:ext cx="161925" cy="14288"/>
          </a:xfrm>
          <a:prstGeom prst="rect">
            <a:avLst/>
          </a:prstGeom>
          <a:solidFill>
            <a:srgbClr val="E9C2C8"/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5" name="Google Shape;375;p16"/>
          <p:cNvSpPr/>
          <p:nvPr/>
        </p:nvSpPr>
        <p:spPr>
          <a:xfrm>
            <a:off x="800100" y="1878360"/>
            <a:ext cx="186786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2C8"/>
              </a:buClr>
              <a:buSzPts val="600"/>
              <a:buFont typeface="Source Sans 3"/>
              <a:buNone/>
            </a:pPr>
            <a:r>
              <a:rPr b="1" i="0" lang="it" sz="600" u="none" cap="none" strike="noStrike">
                <a:solidFill>
                  <a:srgbClr val="E9C2C8"/>
                </a:solidFill>
                <a:latin typeface="Source Sans 3"/>
                <a:ea typeface="Source Sans 3"/>
                <a:cs typeface="Source Sans 3"/>
                <a:sym typeface="Source Sans 3"/>
              </a:rPr>
              <a:t>DATA MANAGEMENT &amp; ANALYSIS · U2</a:t>
            </a:r>
            <a:endParaRPr b="1" i="0" sz="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16"/>
          <p:cNvSpPr/>
          <p:nvPr/>
        </p:nvSpPr>
        <p:spPr>
          <a:xfrm>
            <a:off x="571500" y="2126010"/>
            <a:ext cx="8801100" cy="439043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Source Serif 4"/>
              <a:buNone/>
            </a:pPr>
            <a:r>
              <a:rPr b="1" i="0" lang="it" sz="3200" u="none" cap="none" strike="noStrike">
                <a:solidFill>
                  <a:srgbClr val="FFFFFF"/>
                </a:solidFill>
                <a:latin typeface="Source Serif 4"/>
                <a:ea typeface="Source Serif 4"/>
                <a:cs typeface="Source Serif 4"/>
                <a:sym typeface="Source Serif 4"/>
              </a:rPr>
              <a:t>Thank you for the attention.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16"/>
          <p:cNvSpPr/>
          <p:nvPr/>
        </p:nvSpPr>
        <p:spPr>
          <a:xfrm>
            <a:off x="571500" y="2755553"/>
            <a:ext cx="571500" cy="9525"/>
          </a:xfrm>
          <a:prstGeom prst="rect">
            <a:avLst/>
          </a:prstGeom>
          <a:solidFill>
            <a:srgbClr val="FFFFFF">
              <a:alpha val="34901"/>
            </a:srgbClr>
          </a:solidFill>
          <a:ln>
            <a:noFill/>
          </a:ln>
        </p:spPr>
        <p:txBody>
          <a:bodyPr anchorCtr="0" anchor="ctr" bIns="45725" lIns="45725" spcFirstLastPara="1" rIns="45725" wrap="square" tIns="457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8" name="Google Shape;378;p16"/>
          <p:cNvSpPr/>
          <p:nvPr/>
        </p:nvSpPr>
        <p:spPr>
          <a:xfrm>
            <a:off x="571500" y="2927003"/>
            <a:ext cx="8801100" cy="185738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Source Sans 3"/>
              <a:buNone/>
            </a:pPr>
            <a:r>
              <a:rPr b="1" i="0" lang="it" sz="900" u="none" cap="none" strike="noStrike">
                <a:solidFill>
                  <a:srgbClr val="FFFFFF"/>
                </a:solidFill>
                <a:latin typeface="Source Sans 3"/>
                <a:ea typeface="Source Sans 3"/>
                <a:cs typeface="Source Sans 3"/>
                <a:sym typeface="Source Sans 3"/>
              </a:rPr>
              <a:t>Honi Arora </a:t>
            </a:r>
            <a:r>
              <a:rPr b="0" i="0" lang="it" sz="900" u="none" cap="none" strike="noStrike">
                <a:solidFill>
                  <a:srgbClr val="E9C2C8"/>
                </a:solidFill>
                <a:latin typeface="Source Sans 3"/>
                <a:ea typeface="Source Sans 3"/>
                <a:cs typeface="Source Sans 3"/>
                <a:sym typeface="Source Sans 3"/>
              </a:rPr>
              <a:t>· FIDE Master · 2162860</a:t>
            </a:r>
            <a:endParaRPr b="0" i="0" sz="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16"/>
          <p:cNvSpPr/>
          <p:nvPr/>
        </p:nvSpPr>
        <p:spPr>
          <a:xfrm>
            <a:off x="571500" y="3131790"/>
            <a:ext cx="8801100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12700" lIns="12700" spcFirstLastPara="1" rIns="12700" wrap="square" tIns="12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9C2C8"/>
              </a:buClr>
              <a:buSzPts val="800"/>
              <a:buFont typeface="Source Sans 3"/>
              <a:buNone/>
            </a:pPr>
            <a:r>
              <a:rPr b="0" i="0" lang="it" sz="800" u="none" cap="none" strike="noStrike">
                <a:solidFill>
                  <a:srgbClr val="E9C2C8"/>
                </a:solidFill>
                <a:latin typeface="Source Sans 3"/>
                <a:ea typeface="Source Sans 3"/>
                <a:cs typeface="Source Sans 3"/>
                <a:sym typeface="Source Sans 3"/>
              </a:rPr>
              <a:t>Sapienza University of Rome</a:t>
            </a:r>
            <a:endParaRPr b="0" i="0" sz="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