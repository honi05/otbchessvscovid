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Source Sans 3"/>
      <p:regular r:id="rId21"/>
      <p:bold r:id="rId22"/>
      <p:italic r:id="rId23"/>
      <p:boldItalic r:id="rId24"/>
    </p:embeddedFont>
    <p:embeddedFont>
      <p:font typeface="Source Serif 4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364D26-3159-4C88-82EE-A8885B4C7EFD}">
  <a:tblStyle styleId="{7B364D26-3159-4C88-82EE-A8885B4C7E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SourceSans3-bold.fntdata"/><Relationship Id="rId21" Type="http://schemas.openxmlformats.org/officeDocument/2006/relationships/font" Target="fonts/SourceSans3-regular.fntdata"/><Relationship Id="rId24" Type="http://schemas.openxmlformats.org/officeDocument/2006/relationships/font" Target="fonts/SourceSans3-boldItalic.fntdata"/><Relationship Id="rId23" Type="http://schemas.openxmlformats.org/officeDocument/2006/relationships/font" Target="fonts/SourceSans3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SourceSerif4-bold.fntdata"/><Relationship Id="rId25" Type="http://schemas.openxmlformats.org/officeDocument/2006/relationships/font" Target="fonts/SourceSerif4-regular.fntdata"/><Relationship Id="rId28" Type="http://schemas.openxmlformats.org/officeDocument/2006/relationships/font" Target="fonts/SourceSerif4-boldItalic.fntdata"/><Relationship Id="rId27" Type="http://schemas.openxmlformats.org/officeDocument/2006/relationships/font" Target="fonts/SourceSerif4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Title slide. Research question: did over-the-board chess recover after COVID-19? Thesis project for Data Management and Analysis, Sapienza.</a:t>
            </a:r>
            <a:endParaRPr sz="900"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Online chess boomed during lockdowns while over-the-board tournaments were cancelled. This sets up the research question.</a:t>
            </a:r>
            <a:endParaRPr sz="900"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A quick primer for non-chess audiences: FIDE is the governing body, the Elo rating is a single strength number, over-the-board means in-person tournament play, and an active player is one rated and not flagged inactive. Most players sit between roughly 1400 and 2100.</a:t>
            </a:r>
            <a:endParaRPr sz="900"/>
          </a:p>
        </p:txBody>
      </p:sp>
      <p:sp>
        <p:nvSpPr>
          <p:cNvPr id="46" name="Google Shape;46;p3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2.5 million raw records reduced to 1.17 million active rated players, then enriched into a 15-variable analysis dataset.</a:t>
            </a:r>
            <a:endParaRPr sz="900"/>
          </a:p>
        </p:txBody>
      </p:sp>
      <p:sp>
        <p:nvSpPr>
          <p:cNvPr id="90" name="Google Shape;90;p4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Source is FIDE Standard Rating Lists. Seven monthly snapshots span the baseline, pre-COVID, COVID and post-COVID periods.</a:t>
            </a:r>
            <a:endParaRPr sz="900"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Share of active players who played a rated game collapsed from 32.1% pre-COVID to 3.9% during, recovering only to 24.7% by 2026. Chi-square 90,418, p&lt;.001, Cramér's V 0.29.</a:t>
            </a:r>
            <a:endParaRPr sz="900"/>
          </a:p>
        </p:txBody>
      </p:sp>
      <p:sp>
        <p:nvSpPr>
          <p:cNvPr id="161" name="Google Shape;161;p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7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K-means clustering on rating, activity and age. The elbow method shows a clear bend at k=4 — four meaningful player segments.</a:t>
            </a:r>
            <a:endParaRPr sz="900"/>
          </a:p>
        </p:txBody>
      </p:sp>
      <p:sp>
        <p:nvSpPr>
          <p:cNvPr id="179" name="Google Shape;179;p7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The four clusters: Inactive and Young, Inactive Seniors, Competitive Core, and Strong but Inactive. Only the Competitive Core drives most over-the-board participation.</a:t>
            </a:r>
            <a:endParaRPr sz="900"/>
          </a:p>
        </p:txBody>
      </p:sp>
      <p:sp>
        <p:nvSpPr>
          <p:cNvPr id="197" name="Google Shape;197;p8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9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Segment share by period. The competitive core (cluster 3) nearly disappears during COVID and returns afterward, while the other three segments stay broadly stable.</a:t>
            </a:r>
            <a:endParaRPr sz="900"/>
          </a:p>
        </p:txBody>
      </p:sp>
      <p:sp>
        <p:nvSpPr>
          <p:cNvPr id="252" name="Google Shape;252;p9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0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Segment share by period. The competitive core (cluster 3) nearly disappears during COVID and returns afterward, while the other three segments stay broadly stable.</a:t>
            </a:r>
            <a:endParaRPr sz="900"/>
          </a:p>
        </p:txBody>
      </p:sp>
      <p:sp>
        <p:nvSpPr>
          <p:cNvPr id="270" name="Google Shape;270;p10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1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11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Active players grew about 88% since 2015, even through the COVID dip — from 115,546 to 217,459.</a:t>
            </a:r>
            <a:endParaRPr sz="900"/>
          </a:p>
        </p:txBody>
      </p:sp>
      <p:sp>
        <p:nvSpPr>
          <p:cNvPr id="287" name="Google Shape;287;p11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1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A bigger 2026 pool comes with lower average ratings. Mean rating falls from 1799 to 1737, Welch's t-test p&lt;.001, as new lower-rated players join.</a:t>
            </a:r>
            <a:endParaRPr sz="900"/>
          </a:p>
        </p:txBody>
      </p:sp>
      <p:sp>
        <p:nvSpPr>
          <p:cNvPr id="308" name="Google Shape;308;p1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3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13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Summary: participation collapsed then partially recovered; COVID had a real moderate effect; the pool nearly doubled while ratings fell; a structural shift toward casual players. Bottom line: chess grew in size, not engagement.</a:t>
            </a:r>
            <a:endParaRPr sz="900"/>
          </a:p>
        </p:txBody>
      </p:sp>
      <p:sp>
        <p:nvSpPr>
          <p:cNvPr id="331" name="Google Shape;331;p13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p14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 sz="900"/>
              <a:t>Thank you for the attention.</a:t>
            </a:r>
            <a:endParaRPr sz="900"/>
          </a:p>
        </p:txBody>
      </p:sp>
      <p:sp>
        <p:nvSpPr>
          <p:cNvPr id="371" name="Google Shape;371;p14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it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562475" y="1485997"/>
            <a:ext cx="4807200" cy="7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700"/>
              <a:buFont typeface="Source Serif 4"/>
              <a:buNone/>
            </a:pPr>
            <a:r>
              <a:rPr b="1" lang="it" sz="2700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Covid19 Effects on Slow Thinking Chess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562475" y="2455166"/>
            <a:ext cx="571500" cy="9600"/>
          </a:xfrm>
          <a:prstGeom prst="rect">
            <a:avLst/>
          </a:prstGeom>
          <a:solidFill>
            <a:srgbClr val="E2DDD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562475" y="2636141"/>
            <a:ext cx="59721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900"/>
              <a:buFont typeface="Source Sans 3"/>
              <a:buNone/>
            </a:pPr>
            <a:r>
              <a:rPr b="1" i="0" lang="it" sz="1200" u="none" cap="none" strike="noStrike">
                <a:solidFill>
                  <a:srgbClr val="1D1A1B"/>
                </a:solidFill>
                <a:latin typeface="Source Sans 3"/>
                <a:ea typeface="Source Sans 3"/>
                <a:cs typeface="Source Sans 3"/>
                <a:sym typeface="Source Sans 3"/>
              </a:rPr>
              <a:t>Honi Arora </a:t>
            </a:r>
            <a:r>
              <a:rPr b="0" i="0" lang="it" sz="12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· FIDE Master · 2162860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562475" y="2850450"/>
            <a:ext cx="4663800" cy="39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800"/>
              <a:buFont typeface="Source Sans 3"/>
              <a:buNone/>
            </a:pPr>
            <a:r>
              <a:rPr b="0" i="0" lang="it" sz="11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Bachelor's Degree in Applied Computer Science and Artificial Intelligence</a:t>
            </a:r>
            <a:endParaRPr b="0" i="0" sz="1100" u="none" cap="none" strike="noStrike">
              <a:solidFill>
                <a:srgbClr val="6B6360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800"/>
              <a:buFont typeface="Source Sans 3"/>
              <a:buNone/>
            </a:pPr>
            <a:r>
              <a:rPr b="0" i="0" lang="it" sz="11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Data Management And Analysis Unit 2</a:t>
            </a:r>
            <a:endParaRPr b="0" i="0" sz="1100" u="none" cap="none" strike="noStrike">
              <a:solidFill>
                <a:srgbClr val="6B6360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800"/>
              <a:buFont typeface="Source Sans 3"/>
              <a:buNone/>
            </a:pPr>
            <a:r>
              <a:t/>
            </a:r>
            <a:endParaRPr b="0" i="0" sz="1100" u="none" cap="none" strike="noStrike">
              <a:solidFill>
                <a:srgbClr val="6B6360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800"/>
              <a:buFont typeface="Source Sans 3"/>
              <a:buNone/>
            </a:pPr>
            <a:r>
              <a:t/>
            </a:r>
            <a:endParaRPr b="0" i="0" sz="1100" u="none" cap="none" strike="noStrike">
              <a:solidFill>
                <a:srgbClr val="6B6360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6477000" y="0"/>
            <a:ext cx="2667000" cy="51435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7453425" y="1863225"/>
            <a:ext cx="714300" cy="714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90500">
              <a:srgbClr val="000000">
                <a:alpha val="50196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8" name="Google Shape;18;p3"/>
          <p:cNvSpPr/>
          <p:nvPr/>
        </p:nvSpPr>
        <p:spPr>
          <a:xfrm>
            <a:off x="7453313" y="1863105"/>
            <a:ext cx="7143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848075" y="2915623"/>
            <a:ext cx="198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ource Serif 4"/>
              <a:buNone/>
            </a:pPr>
            <a:r>
              <a:rPr b="1" i="0" lang="it" sz="27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Sapienza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003585" y="3249745"/>
            <a:ext cx="16737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D0D5"/>
              </a:buClr>
              <a:buSzPts val="900"/>
              <a:buFont typeface="Source Sans 3"/>
              <a:buNone/>
            </a:pPr>
            <a:r>
              <a:rPr b="0" i="0" lang="it" sz="1400" u="none" cap="none" strike="noStrike">
                <a:solidFill>
                  <a:srgbClr val="F0D0D5"/>
                </a:solidFill>
                <a:latin typeface="Source Sans 3"/>
                <a:ea typeface="Source Sans 3"/>
                <a:cs typeface="Source Sans 3"/>
                <a:sym typeface="Source Sans 3"/>
              </a:rPr>
              <a:t>UNIVERSITÀ DI ROMA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1;p3" title="Screenshot 2026-06-11 14421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53325" y="1840975"/>
            <a:ext cx="714300" cy="758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781050" y="400050"/>
            <a:ext cx="846222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MOTIVATION · 01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71500" y="590550"/>
            <a:ext cx="6475095" cy="5737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Online vs Over The Board Chess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71500" y="1411923"/>
            <a:ext cx="683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446"/>
              <a:buFont typeface="Source Serif 4"/>
              <a:buNone/>
            </a:pPr>
            <a:r>
              <a:rPr b="1" i="0" lang="it" sz="2446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30M</a:t>
            </a:r>
            <a:endParaRPr b="0" i="0" sz="244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1312927" y="1499290"/>
            <a:ext cx="221100" cy="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345"/>
              <a:buFont typeface="Source Serif 4"/>
              <a:buNone/>
            </a:pPr>
            <a:r>
              <a:rPr b="1" i="0" lang="it" sz="1345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34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1592498" y="1411923"/>
            <a:ext cx="8898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446"/>
              <a:buFont typeface="Source Serif 4"/>
              <a:buNone/>
            </a:pPr>
            <a:r>
              <a:rPr b="1" i="0" lang="it" sz="2446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150M</a:t>
            </a:r>
            <a:endParaRPr b="0" i="0" sz="244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71500" y="1819634"/>
            <a:ext cx="3119700" cy="3903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78"/>
              <a:buFont typeface="Source Sans 3"/>
              <a:buNone/>
            </a:pPr>
            <a:r>
              <a:rPr b="0" i="0" lang="it" sz="978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Chess.com users grew five-fold from 2020 to 2023. Fast online formats came to dominate the market.</a:t>
            </a:r>
            <a:endParaRPr b="0" i="0" sz="97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71500" y="2396253"/>
            <a:ext cx="4391700" cy="60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55925" lIns="55925" spcFirstLastPara="1" rIns="55925" wrap="square" tIns="55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571500" y="2611758"/>
            <a:ext cx="4830900" cy="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345"/>
              <a:buFont typeface="Source Serif 4"/>
              <a:buNone/>
            </a:pPr>
            <a:r>
              <a:rPr b="1" i="0" lang="it" sz="1345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FIDE over-the-board play fell sharply</a:t>
            </a:r>
            <a:endParaRPr b="0" i="0" sz="134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71500" y="2932102"/>
            <a:ext cx="3119700" cy="5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5525" lIns="15525" spcFirstLastPara="1" rIns="15525" wrap="square" tIns="155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78"/>
              <a:buFont typeface="Source Sans 3"/>
              <a:buNone/>
            </a:pPr>
            <a:r>
              <a:rPr b="0" i="0" lang="it" sz="978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Official tournaments managed by the International Chess Federation were cancelled, and ratings show a steep drop through the period.</a:t>
            </a:r>
            <a:endParaRPr b="0" i="0" sz="97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3982300" y="1411923"/>
            <a:ext cx="4590000" cy="2094000"/>
          </a:xfrm>
          <a:prstGeom prst="roundRect">
            <a:avLst>
              <a:gd fmla="val 5063" name="adj"/>
            </a:avLst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302250" y="1797745"/>
            <a:ext cx="3950100" cy="2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2C8"/>
              </a:buClr>
              <a:buSzPts val="600"/>
              <a:buFont typeface="Source Sans 3"/>
              <a:buNone/>
            </a:pPr>
            <a:r>
              <a:rPr b="1" i="0" lang="it" sz="11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RESEARCH QUESTION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309825" y="2029650"/>
            <a:ext cx="4070100" cy="14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Source Serif 4"/>
              <a:buNone/>
            </a:pPr>
            <a:r>
              <a:rPr lang="it" sz="2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Did </a:t>
            </a:r>
            <a:r>
              <a:rPr lang="it" sz="2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participation in 4-hr classical chess games, decline following lockdown &amp; online chess boom?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81050" y="400050"/>
            <a:ext cx="846222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MOTIVATION · 02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571500" y="590550"/>
            <a:ext cx="7019925" cy="2963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FIDE Ratings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71500" y="1099804"/>
            <a:ext cx="2453700" cy="1140600"/>
          </a:xfrm>
          <a:prstGeom prst="roundRect">
            <a:avLst>
              <a:gd fmla="val 8562" name="adj"/>
            </a:avLst>
          </a:prstGeom>
          <a:solidFill>
            <a:srgbClr val="FFFFFF"/>
          </a:solidFill>
          <a:ln cap="flat" cmpd="sng" w="12200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600" lIns="58600" spcFirstLastPara="1" rIns="58600" wrap="square" tIns="58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50"/>
              <a:buFont typeface="Arial"/>
              <a:buNone/>
            </a:pPr>
            <a:r>
              <a:t/>
            </a:r>
            <a:endParaRPr b="0" i="0" sz="2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77603" y="1105907"/>
            <a:ext cx="2441400" cy="246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58600" lIns="58600" spcFirstLastPara="1" rIns="58600" wrap="square" tIns="58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4"/>
              <a:buFont typeface="Arial"/>
              <a:buNone/>
            </a:pPr>
            <a:r>
              <a:t/>
            </a:r>
            <a:endParaRPr b="0" i="0" sz="1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736292" y="1301214"/>
            <a:ext cx="23364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6275" lIns="16275" spcFirstLastPara="1" rIns="16275" wrap="square" tIns="16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41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FIDE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736292" y="1496521"/>
            <a:ext cx="23364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16275" lIns="16275" spcFirstLastPara="1" rIns="16275" wrap="square" tIns="1627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53"/>
              <a:buFont typeface="Source Serif 4"/>
              <a:buNone/>
            </a:pPr>
            <a:r>
              <a:rPr b="1" i="0" lang="it" sz="1153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Chess's governing body</a:t>
            </a:r>
            <a:endParaRPr b="0" i="0" sz="115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736292" y="1733788"/>
            <a:ext cx="2187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16275" lIns="16275" spcFirstLastPara="1" rIns="16275" wrap="square" tIns="1627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557"/>
              </a:buClr>
              <a:buSzPts val="897"/>
              <a:buFont typeface="Source Sans 3"/>
              <a:buNone/>
            </a:pPr>
            <a:r>
              <a:rPr b="0" i="0" lang="it" sz="897" u="none" cap="none" strike="noStrike">
                <a:solidFill>
                  <a:srgbClr val="5A5557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official over-the-board tournaments and maintains the world rating list.</a:t>
            </a:r>
            <a:endParaRPr b="0" i="0" sz="89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3321500" y="1084200"/>
            <a:ext cx="2520600" cy="1171800"/>
          </a:xfrm>
          <a:prstGeom prst="roundRect">
            <a:avLst>
              <a:gd fmla="val 8562" name="adj"/>
            </a:avLst>
          </a:prstGeom>
          <a:solidFill>
            <a:srgbClr val="FFFFFF"/>
          </a:solidFill>
          <a:ln cap="flat" cmpd="sng" w="12550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200" lIns="60200" spcFirstLastPara="1" rIns="60200" wrap="square" tIns="60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3"/>
              <a:buFont typeface="Arial"/>
              <a:buNone/>
            </a:pPr>
            <a:r>
              <a:t/>
            </a:r>
            <a:endParaRPr b="0" i="0" sz="1843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3327770" y="1090470"/>
            <a:ext cx="2508000" cy="252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60200" lIns="60200" spcFirstLastPara="1" rIns="60200" wrap="square" tIns="60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3"/>
              <a:buFont typeface="Arial"/>
              <a:buNone/>
            </a:pPr>
            <a:r>
              <a:t/>
            </a:r>
            <a:endParaRPr b="0" i="0" sz="1843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490794" y="1291113"/>
            <a:ext cx="2400300" cy="1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700" lIns="16700" spcFirstLastPara="1" rIns="16700" wrap="square" tIns="16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58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ELO RATING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3490794" y="1491756"/>
            <a:ext cx="24003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6700" lIns="16700" spcFirstLastPara="1" rIns="16700" wrap="square" tIns="16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85"/>
              <a:buFont typeface="Source Serif 4"/>
              <a:buNone/>
            </a:pPr>
            <a:r>
              <a:rPr b="1" i="0" lang="it" sz="1185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Strength as a number</a:t>
            </a:r>
            <a:endParaRPr b="0" i="0" sz="11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3490794" y="1735506"/>
            <a:ext cx="22476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700" lIns="16700" spcFirstLastPara="1" rIns="16700" wrap="square" tIns="16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557"/>
              </a:buClr>
              <a:buSzPts val="922"/>
              <a:buFont typeface="Source Sans 3"/>
              <a:buNone/>
            </a:pPr>
            <a:r>
              <a:rPr b="0" i="0" lang="it" sz="922" u="none" cap="none" strike="noStrike">
                <a:solidFill>
                  <a:srgbClr val="5A5557"/>
                </a:solidFill>
                <a:latin typeface="Source Sans 3"/>
                <a:ea typeface="Source Sans 3"/>
                <a:cs typeface="Source Sans 3"/>
                <a:sym typeface="Source Sans 3"/>
              </a:rPr>
              <a:t>Updated after every rated game — a win nudges it up, a loss down.</a:t>
            </a:r>
            <a:endParaRPr b="0" i="0" sz="9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577600" y="2825850"/>
            <a:ext cx="19560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500"/>
              <a:buFont typeface="Source Sans 3"/>
              <a:buNone/>
            </a:pPr>
            <a:r>
              <a:rPr b="1" i="0" lang="it" sz="11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ELO RATING SCALE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7838552" y="2816330"/>
            <a:ext cx="8142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77600" y="2997305"/>
            <a:ext cx="1778100" cy="76200"/>
          </a:xfrm>
          <a:prstGeom prst="rect">
            <a:avLst/>
          </a:prstGeom>
          <a:solidFill>
            <a:srgbClr val="F3D8D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2355575" y="2997305"/>
            <a:ext cx="1778100" cy="76200"/>
          </a:xfrm>
          <a:prstGeom prst="rect">
            <a:avLst/>
          </a:prstGeom>
          <a:solidFill>
            <a:srgbClr val="E0A8A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133625" y="2997305"/>
            <a:ext cx="1333500" cy="76200"/>
          </a:xfrm>
          <a:prstGeom prst="rect">
            <a:avLst/>
          </a:prstGeom>
          <a:solidFill>
            <a:srgbClr val="CC818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67125" y="2997305"/>
            <a:ext cx="1333500" cy="76200"/>
          </a:xfrm>
          <a:prstGeom prst="rect">
            <a:avLst/>
          </a:prstGeom>
          <a:solidFill>
            <a:srgbClr val="B1566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800625" y="2997305"/>
            <a:ext cx="1778100" cy="762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77600" y="3140180"/>
            <a:ext cx="19557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erif 4"/>
              <a:buNone/>
            </a:pPr>
            <a:r>
              <a:rPr b="1" i="0" lang="it" sz="13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≈1000–1400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577600" y="3292580"/>
            <a:ext cx="1955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Beginner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2355575" y="3140180"/>
            <a:ext cx="19560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erif 4"/>
              <a:buNone/>
            </a:pPr>
            <a:r>
              <a:rPr b="1" i="0" lang="it" sz="13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≈1400–1800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2355575" y="3292580"/>
            <a:ext cx="19560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Club player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4133625" y="3140180"/>
            <a:ext cx="14670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erif 4"/>
              <a:buNone/>
            </a:pPr>
            <a:r>
              <a:rPr b="1" i="0" lang="it" sz="13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≈1800–2100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4133625" y="3292580"/>
            <a:ext cx="14670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Expert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67125" y="3140180"/>
            <a:ext cx="14670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erif 4"/>
              <a:buNone/>
            </a:pPr>
            <a:r>
              <a:rPr b="1" i="0" lang="it" sz="13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≈2100–2400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5467125" y="3292580"/>
            <a:ext cx="14670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Master · FM / IM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6800625" y="3140180"/>
            <a:ext cx="19557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erif 4"/>
              <a:buNone/>
            </a:pPr>
            <a:r>
              <a:rPr b="1" i="0" lang="it" sz="13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2500+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6800625" y="3292580"/>
            <a:ext cx="1955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Grandmaster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577600" y="3492605"/>
            <a:ext cx="880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0" i="0" lang="it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Most rated players — and this study's average of ≈1750 — sit in the club-to-expert range.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6138400" y="1095304"/>
            <a:ext cx="2472600" cy="1149600"/>
          </a:xfrm>
          <a:prstGeom prst="roundRect">
            <a:avLst>
              <a:gd fmla="val 8562" name="adj"/>
            </a:avLst>
          </a:prstGeom>
          <a:solidFill>
            <a:srgbClr val="FFFFFF"/>
          </a:solidFill>
          <a:ln cap="flat" cmpd="sng" w="12300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050" lIns="59050" spcFirstLastPara="1" rIns="59050" wrap="square" tIns="59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144551" y="1101454"/>
            <a:ext cx="2460300" cy="249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59050" lIns="59050" spcFirstLastPara="1" rIns="59050" wrap="square" tIns="59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6304470" y="1298277"/>
            <a:ext cx="2354400" cy="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16400" lIns="16400" spcFirstLastPara="1" rIns="16400" wrap="square" tIns="16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41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OVER-THE-BOARD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304470" y="1495100"/>
            <a:ext cx="23544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16400" lIns="16400" spcFirstLastPara="1" rIns="16400" wrap="square" tIns="164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53"/>
              <a:buFont typeface="Source Serif 4"/>
              <a:buNone/>
            </a:pPr>
            <a:r>
              <a:rPr b="1" i="0" lang="it" sz="1153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Played in person</a:t>
            </a:r>
            <a:endParaRPr b="0" i="0" sz="115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6304470" y="1734209"/>
            <a:ext cx="2204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6400" lIns="16400" spcFirstLastPara="1" rIns="16400" wrap="square" tIns="164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557"/>
              </a:buClr>
              <a:buSzPts val="897"/>
              <a:buFont typeface="Source Sans 3"/>
              <a:buNone/>
            </a:pPr>
            <a:r>
              <a:rPr b="0" i="0" lang="it" sz="897" u="none" cap="none" strike="noStrike">
                <a:solidFill>
                  <a:srgbClr val="5A5557"/>
                </a:solidFill>
                <a:latin typeface="Source Sans 3"/>
                <a:ea typeface="Source Sans 3"/>
                <a:cs typeface="Source Sans 3"/>
                <a:sym typeface="Source Sans 3"/>
              </a:rPr>
              <a:t>Real games at a physical board and tournament — not online. This study's focus.</a:t>
            </a:r>
            <a:endParaRPr b="0" i="0" sz="89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/>
          <p:nvPr/>
        </p:nvSpPr>
        <p:spPr>
          <a:xfrm>
            <a:off x="571500" y="445294"/>
            <a:ext cx="142800" cy="144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781050" y="400050"/>
            <a:ext cx="4704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DATA · 01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571500" y="590550"/>
            <a:ext cx="64752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Data Preprocessing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566513" y="2519418"/>
            <a:ext cx="2346300" cy="1324500"/>
          </a:xfrm>
          <a:prstGeom prst="roundRect">
            <a:avLst>
              <a:gd fmla="val 6473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761775" y="2733731"/>
            <a:ext cx="215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COMBINED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761775" y="2919468"/>
            <a:ext cx="21513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900"/>
              <a:buFont typeface="Source Serif 4"/>
              <a:buNone/>
            </a:pPr>
            <a:r>
              <a:rPr b="1" i="0" lang="it" sz="19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2,534,904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761775" y="3243318"/>
            <a:ext cx="1955700" cy="38100"/>
          </a:xfrm>
          <a:prstGeom prst="roundRect">
            <a:avLst>
              <a:gd fmla="val 50000" name="adj"/>
            </a:avLst>
          </a:prstGeom>
          <a:solidFill>
            <a:srgbClr val="EFE6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761775" y="3243318"/>
            <a:ext cx="1955700" cy="381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761775" y="3367143"/>
            <a:ext cx="20145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7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All 7 FIDE rating</a:t>
            </a:r>
            <a:r>
              <a:rPr lang="it" sz="900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list</a:t>
            </a:r>
            <a:r>
              <a:rPr lang="it" sz="900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s </a:t>
            </a: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merged into one dataset of player records.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3074713" y="3072091"/>
            <a:ext cx="2001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300"/>
              <a:buFont typeface="Source Serif 4"/>
              <a:buNone/>
            </a:pPr>
            <a:r>
              <a:rPr b="0" i="0" lang="it" sz="1300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3398563" y="2519418"/>
            <a:ext cx="2346300" cy="1324500"/>
          </a:xfrm>
          <a:prstGeom prst="roundRect">
            <a:avLst>
              <a:gd fmla="val 6473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3593825" y="2733731"/>
            <a:ext cx="215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CLEANED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3593825" y="2919468"/>
            <a:ext cx="21513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900"/>
              <a:buFont typeface="Source Serif 4"/>
              <a:buNone/>
            </a:pPr>
            <a:r>
              <a:rPr b="1" i="0" lang="it" sz="19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1,166,786 </a:t>
            </a:r>
            <a:r>
              <a:rPr b="0" i="0" lang="it" sz="900" u="none" cap="none" strike="noStrike">
                <a:solidFill>
                  <a:srgbClr val="9A929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~46%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3593825" y="3243318"/>
            <a:ext cx="1955700" cy="38100"/>
          </a:xfrm>
          <a:prstGeom prst="roundRect">
            <a:avLst>
              <a:gd fmla="val 50000" name="adj"/>
            </a:avLst>
          </a:prstGeom>
          <a:solidFill>
            <a:srgbClr val="EFE6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3593825" y="3243318"/>
            <a:ext cx="899700" cy="381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3593825" y="3367150"/>
            <a:ext cx="21513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700"/>
              <a:buFont typeface="Source Sans 3"/>
              <a:buNone/>
            </a:pPr>
            <a:r>
              <a:rPr b="0" i="0" lang="it" sz="9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Removed Inactive players, those who had zero tournament games in past 12+ months.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5906838" y="3072091"/>
            <a:ext cx="2001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300"/>
              <a:buFont typeface="Source Serif 4"/>
              <a:buNone/>
            </a:pPr>
            <a:r>
              <a:rPr b="0" i="0" lang="it" sz="1300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6230688" y="2524181"/>
            <a:ext cx="2336700" cy="1314900"/>
          </a:xfrm>
          <a:prstGeom prst="roundRect">
            <a:avLst>
              <a:gd fmla="val 6520" name="adj"/>
            </a:avLst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6421188" y="2733731"/>
            <a:ext cx="215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2C8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ENRICHED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421188" y="2919468"/>
            <a:ext cx="21513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Source Serif 4"/>
              <a:buNone/>
            </a:pPr>
            <a:r>
              <a:rPr b="1" i="0" lang="it" sz="19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1,166,786 </a:t>
            </a:r>
            <a:r>
              <a:rPr b="0" i="0" lang="it" sz="1100" u="none" cap="none" strike="noStrike">
                <a:solidFill>
                  <a:srgbClr val="E9C2C8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× 15 colms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6421188" y="3243318"/>
            <a:ext cx="1955700" cy="38100"/>
          </a:xfrm>
          <a:prstGeom prst="roundRect">
            <a:avLst>
              <a:gd fmla="val 50000" name="adj"/>
            </a:avLst>
          </a:prstGeom>
          <a:solidFill>
            <a:srgbClr val="FFFFFF">
              <a:alpha val="21960"/>
            </a:srgbClr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421188" y="3243318"/>
            <a:ext cx="8997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421200" y="3367150"/>
            <a:ext cx="23463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0D6DA"/>
              </a:buClr>
              <a:buSzPts val="700"/>
              <a:buFont typeface="Source Sans 3"/>
              <a:buNone/>
            </a:pPr>
            <a:r>
              <a:rPr b="0" i="0" lang="it" sz="900" u="none" cap="none" strike="noStrike">
                <a:solidFill>
                  <a:srgbClr val="F0D6D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Added period, age, title status and</a:t>
            </a:r>
            <a:endParaRPr b="0" i="0" sz="900" u="none" cap="none" strike="noStrike">
              <a:solidFill>
                <a:srgbClr val="F0D6DA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0D6DA"/>
              </a:buClr>
              <a:buSzPts val="700"/>
              <a:buFont typeface="Source Sans 3"/>
              <a:buNone/>
            </a:pPr>
            <a:r>
              <a:rPr b="0" i="0" lang="it" sz="900" u="none" cap="none" strike="noStrike">
                <a:solidFill>
                  <a:srgbClr val="F0D6DA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it" sz="900">
                <a:solidFill>
                  <a:srgbClr val="F0D6D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ref_month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71500" y="4781550"/>
            <a:ext cx="80010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71500" y="4852988"/>
            <a:ext cx="20454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8499202" y="4852988"/>
            <a:ext cx="11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566525" y="1699196"/>
            <a:ext cx="7182300" cy="14400"/>
          </a:xfrm>
          <a:prstGeom prst="rect">
            <a:avLst/>
          </a:prstGeom>
          <a:solidFill>
            <a:srgbClr val="E2DDD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571502" y="1437300"/>
            <a:ext cx="61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2015-02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747679" y="1661050"/>
            <a:ext cx="95400" cy="95400"/>
          </a:xfrm>
          <a:prstGeom prst="ellipse">
            <a:avLst/>
          </a:prstGeom>
          <a:solidFill>
            <a:srgbClr val="9AA0A6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647931" y="1894500"/>
            <a:ext cx="557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Baseline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1700875" y="14373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2019-01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1877161" y="1653838"/>
            <a:ext cx="95400" cy="95400"/>
          </a:xfrm>
          <a:prstGeom prst="ellipse">
            <a:avLst/>
          </a:prstGeom>
          <a:solidFill>
            <a:srgbClr val="1F4E79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1746926" y="1894500"/>
            <a:ext cx="6153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Pre-COVID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2830324" y="14373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2020-01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3006643" y="1661125"/>
            <a:ext cx="95400" cy="95400"/>
          </a:xfrm>
          <a:prstGeom prst="ellipse">
            <a:avLst/>
          </a:prstGeom>
          <a:solidFill>
            <a:srgbClr val="1F4E79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2876324" y="1894500"/>
            <a:ext cx="6807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Pre-COVID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3959727" y="14373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2020-07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136088" y="1661125"/>
            <a:ext cx="95400" cy="95400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4001125" y="1894522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089101" y="14373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2021-01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5265520" y="1661125"/>
            <a:ext cx="95400" cy="95400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5130550" y="18945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6218475" y="1437300"/>
            <a:ext cx="557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2022-01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6394902" y="1661125"/>
            <a:ext cx="95400" cy="95400"/>
          </a:xfrm>
          <a:prstGeom prst="ellipse">
            <a:avLst/>
          </a:prstGeom>
          <a:solidFill>
            <a:srgbClr val="2E86DE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248331" y="1894500"/>
            <a:ext cx="7983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Post-COVID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7347847" y="1437300"/>
            <a:ext cx="61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000"/>
              <a:buFont typeface="Source Serif 4"/>
              <a:buNone/>
            </a:pPr>
            <a:r>
              <a:rPr b="1" i="0" lang="it" sz="1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2026-06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7524272" y="1653838"/>
            <a:ext cx="95400" cy="95400"/>
          </a:xfrm>
          <a:prstGeom prst="ellipse">
            <a:avLst/>
          </a:prstGeom>
          <a:solidFill>
            <a:srgbClr val="2E86DE"/>
          </a:solidFill>
          <a:ln>
            <a:noFill/>
          </a:ln>
          <a:effectLst>
            <a:outerShdw blurRad="101600" rotWithShape="0" algn="bl" dir="16200000" dist="50800">
              <a:srgbClr val="FFFFFF"/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7377700" y="1894500"/>
            <a:ext cx="7983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600"/>
              <a:buFont typeface="Source Sans 3"/>
              <a:buNone/>
            </a:pPr>
            <a:r>
              <a:rPr b="0" i="0" lang="it" sz="10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Post-COVID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566525" y="4077650"/>
            <a:ext cx="8577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it" sz="1200" u="none" cap="none" strike="noStrike">
                <a:solidFill>
                  <a:srgbClr val="1D1A1B"/>
                </a:solidFill>
                <a:latin typeface="Source Sans 3"/>
                <a:ea typeface="Source Sans 3"/>
                <a:cs typeface="Source Sans 3"/>
                <a:sym typeface="Source Sans 3"/>
              </a:rPr>
              <a:t>Source — </a:t>
            </a:r>
            <a:r>
              <a:rPr b="0" i="0" lang="it" sz="1200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FIDE Standard Rating Lists: official monthly records of every FIDE-rated player worldwide. (https://ratings.fide.com/download_lists.phtml)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781050" y="400050"/>
            <a:ext cx="470520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DATA · 02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71500" y="590550"/>
            <a:ext cx="75210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The Final DataSet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1987100" y="3924350"/>
            <a:ext cx="53523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800"/>
              <a:buFont typeface="Source Sans 3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3553916" y="1657245"/>
            <a:ext cx="20997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500"/>
              <a:buFont typeface="Source Sans 3"/>
              <a:buNone/>
            </a:pPr>
            <a:r>
              <a:rPr b="1" i="0" lang="it" sz="5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SAMPLE OF THE CLEANED DATASET · 15 VARIABLES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475325" y="1054775"/>
            <a:ext cx="6256800" cy="3564900"/>
          </a:xfrm>
          <a:prstGeom prst="roundRect">
            <a:avLst>
              <a:gd fmla="val 3614" name="adj"/>
            </a:avLst>
          </a:prstGeom>
          <a:solidFill>
            <a:srgbClr val="FFFFFF"/>
          </a:solidFill>
          <a:ln cap="flat" cmpd="sng" w="9525">
            <a:solidFill>
              <a:srgbClr val="E7E3E2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71450" y="4586288"/>
            <a:ext cx="8801100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05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5425" y="1054850"/>
            <a:ext cx="6256703" cy="356480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7"/>
          <p:cNvSpPr txBox="1"/>
          <p:nvPr/>
        </p:nvSpPr>
        <p:spPr>
          <a:xfrm>
            <a:off x="2255400" y="4518250"/>
            <a:ext cx="9006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781050" y="400050"/>
            <a:ext cx="628055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FINDING · 01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571500" y="590550"/>
            <a:ext cx="65733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Participation collapse during COVID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571500" y="1113550"/>
            <a:ext cx="4086300" cy="3012300"/>
          </a:xfrm>
          <a:prstGeom prst="roundRect">
            <a:avLst>
              <a:gd fmla="val 2268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7" name="Google Shape;16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5538" y="1174278"/>
            <a:ext cx="4086225" cy="29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/>
          <p:nvPr/>
        </p:nvSpPr>
        <p:spPr>
          <a:xfrm>
            <a:off x="5555700" y="2673022"/>
            <a:ext cx="2955300" cy="7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74675" lIns="74675" spcFirstLastPara="1" rIns="74675" wrap="square" tIns="74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909175" y="2851599"/>
            <a:ext cx="3471300" cy="1192200"/>
          </a:xfrm>
          <a:prstGeom prst="roundRect">
            <a:avLst>
              <a:gd fmla="val 13953" name="adj"/>
            </a:avLst>
          </a:prstGeom>
          <a:solidFill>
            <a:srgbClr val="FAF4F5"/>
          </a:solidFill>
          <a:ln cap="flat" cmpd="sng" w="18275">
            <a:solidFill>
              <a:srgbClr val="EFDF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700" lIns="87700" spcFirstLastPara="1" rIns="87700" wrap="square" tIns="87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7"/>
              <a:buFont typeface="Arial"/>
              <a:buNone/>
            </a:pPr>
            <a:r>
              <a:t/>
            </a:r>
            <a:endParaRPr b="0" i="0" sz="19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5101025" y="2943975"/>
            <a:ext cx="35505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1623"/>
              </a:buClr>
              <a:buSzPts val="1151"/>
              <a:buFont typeface="Source Sans 3"/>
              <a:buNone/>
            </a:pPr>
            <a:r>
              <a:rPr b="0" i="0" lang="it" sz="1503" u="none" cap="none" strike="noStrike">
                <a:solidFill>
                  <a:srgbClr val="6E1623"/>
                </a:solidFill>
                <a:latin typeface="Source Sans 3"/>
                <a:ea typeface="Source Sans 3"/>
                <a:cs typeface="Source Sans 3"/>
                <a:sym typeface="Source Sans 3"/>
              </a:rPr>
              <a:t>χ² = 90,418 · p &lt; .001 · Cramer's V = 0.29</a:t>
            </a:r>
            <a:endParaRPr b="0" i="0" sz="150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5101025" y="3248575"/>
            <a:ext cx="32793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75" lIns="24375" spcFirstLastPara="1" rIns="24375" wrap="square" tIns="2437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A7D82"/>
              </a:buClr>
              <a:buSzPts val="1151"/>
              <a:buFont typeface="Source Sans 3"/>
              <a:buNone/>
            </a:pPr>
            <a:r>
              <a:rPr b="0" i="0" lang="it" sz="1503" u="none" cap="none" strike="noStrike">
                <a:solidFill>
                  <a:srgbClr val="9A7D82"/>
                </a:solidFill>
                <a:latin typeface="Source Sans 3"/>
                <a:ea typeface="Source Sans 3"/>
                <a:cs typeface="Source Sans 3"/>
                <a:sym typeface="Source Sans 3"/>
              </a:rPr>
              <a:t>A moderate association between period and tournament participation </a:t>
            </a:r>
            <a:endParaRPr b="0" i="0" sz="150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571500" y="4781550"/>
            <a:ext cx="57990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06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5" name="Google Shape;175;p8"/>
          <p:cNvGraphicFramePr/>
          <p:nvPr/>
        </p:nvGraphicFramePr>
        <p:xfrm>
          <a:off x="4909163" y="1110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{7B364D26-3159-4C88-82EE-A8885B4C7EFD}</a:tableStyleId>
              </a:tblPr>
              <a:tblGrid>
                <a:gridCol w="1324300"/>
                <a:gridCol w="1324300"/>
                <a:gridCol w="13243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Period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it" sz="1100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Didn't Play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it" sz="1100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Played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Pre-Covid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231,657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(67.9%)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109,493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(32.1%)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329,715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(96.1%)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13,539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(3.9%)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Post-Covid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276,167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(75.3%)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90,669  </a:t>
                      </a:r>
                      <a:r>
                        <a:rPr b="0" i="0" lang="it" sz="9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(24.7%)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781050" y="400050"/>
            <a:ext cx="99839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SEGMENTATION · 01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571500" y="590550"/>
            <a:ext cx="7019925" cy="2963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Elbow Plot for Determining Clusters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571500" y="1113550"/>
            <a:ext cx="5091600" cy="3572700"/>
          </a:xfrm>
          <a:prstGeom prst="roundRect">
            <a:avLst>
              <a:gd fmla="val 2095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5" name="Google Shape;18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6312" y="1113538"/>
            <a:ext cx="5026562" cy="35248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9"/>
          <p:cNvSpPr/>
          <p:nvPr/>
        </p:nvSpPr>
        <p:spPr>
          <a:xfrm>
            <a:off x="6330375" y="1113550"/>
            <a:ext cx="2445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5600" lIns="15600" spcFirstLastPara="1" rIns="15600" wrap="square" tIns="156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3930"/>
              <a:buFont typeface="Source Serif 4"/>
              <a:buNone/>
            </a:pPr>
            <a:r>
              <a:rPr b="1" i="0" lang="it" sz="393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k = 4</a:t>
            </a:r>
            <a:endParaRPr b="0" i="0" sz="3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6330375" y="1625898"/>
            <a:ext cx="2445000" cy="1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15600" lIns="15600" spcFirstLastPara="1" rIns="15600" wrap="square" tIns="15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860"/>
              <a:buFont typeface="Source Sans 3"/>
              <a:buNone/>
            </a:pPr>
            <a:r>
              <a:rPr b="0" i="0" lang="it" sz="116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clear bend in the elbow curve</a:t>
            </a:r>
            <a:endParaRPr b="0" i="0" sz="1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6330375" y="1947600"/>
            <a:ext cx="2222400" cy="57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56150" lIns="56150" spcFirstLastPara="1" rIns="56150" wrap="square" tIns="56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6330375" y="2128923"/>
            <a:ext cx="2289000" cy="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15600" lIns="15600" spcFirstLastPara="1" rIns="15600" wrap="square" tIns="156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83"/>
              <a:buFont typeface="Source Sans 3"/>
              <a:buNone/>
            </a:pPr>
            <a:r>
              <a:rPr b="0" i="0" lang="it" sz="1183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K-means groups players by similar rating, activity and age profiles.</a:t>
            </a:r>
            <a:endParaRPr b="0" i="0" sz="118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6330375" y="2744984"/>
            <a:ext cx="2289000" cy="8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15600" lIns="15600" spcFirstLastPara="1" rIns="15600" wrap="square" tIns="156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83"/>
              <a:buFont typeface="Source Sans 3"/>
              <a:buNone/>
            </a:pPr>
            <a:r>
              <a:rPr b="0" i="0" lang="it" sz="1183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four clusters drive all subsequent player-segmentation analysis.</a:t>
            </a:r>
            <a:endParaRPr b="0" i="0" sz="118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07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"/>
          <p:cNvSpPr/>
          <p:nvPr/>
        </p:nvSpPr>
        <p:spPr>
          <a:xfrm>
            <a:off x="571500" y="446247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781050" y="400050"/>
            <a:ext cx="99844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SEGMENTATION · 02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571500" y="592455"/>
            <a:ext cx="7019925" cy="29640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Four kinds of players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571500" y="1041261"/>
            <a:ext cx="1905477" cy="3645039"/>
          </a:xfrm>
          <a:prstGeom prst="roundRect">
            <a:avLst>
              <a:gd fmla="val 3999" name="adj"/>
            </a:avLst>
          </a:prstGeom>
          <a:solidFill>
            <a:srgbClr val="FFFFFF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575310" y="1045071"/>
            <a:ext cx="1897857" cy="38100"/>
          </a:xfrm>
          <a:prstGeom prst="rect">
            <a:avLst/>
          </a:prstGeom>
          <a:solidFill>
            <a:srgbClr val="F8766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718185" y="1226046"/>
            <a:ext cx="1773317" cy="16906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2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Young (Low-Activity)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718185" y="1414165"/>
            <a:ext cx="1773317" cy="14097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700"/>
              <a:buFont typeface="Source Sans 3"/>
              <a:buNone/>
            </a:pPr>
            <a:r>
              <a:rPr b="0" i="0" lang="it" sz="11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33% of players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718185" y="1650385"/>
            <a:ext cx="1612107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718185" y="253728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AGE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718185" y="264396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718185" y="298686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RATING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718185" y="309354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1372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718185" y="343644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GAMES / MO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718185" y="3543121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~0.3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2600802" y="1041261"/>
            <a:ext cx="1905477" cy="3645039"/>
          </a:xfrm>
          <a:prstGeom prst="roundRect">
            <a:avLst>
              <a:gd fmla="val 3999" name="adj"/>
            </a:avLst>
          </a:prstGeom>
          <a:solidFill>
            <a:srgbClr val="FFFFFF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2604612" y="1045071"/>
            <a:ext cx="1897857" cy="38100"/>
          </a:xfrm>
          <a:prstGeom prst="rect">
            <a:avLst/>
          </a:prstGeom>
          <a:solidFill>
            <a:srgbClr val="7CAE0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2747487" y="1226046"/>
            <a:ext cx="1773317" cy="16906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2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Seniors (Low-Activity)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2747487" y="1414165"/>
            <a:ext cx="1773317" cy="14097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700"/>
              <a:buFont typeface="Source Sans 3"/>
              <a:buNone/>
            </a:pPr>
            <a:r>
              <a:rPr b="0" i="0" lang="it" sz="11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28% of players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2747487" y="1650385"/>
            <a:ext cx="1612106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2747487" y="253728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AGE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2747487" y="264396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62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2747487" y="298686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RATING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747487" y="309354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1673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2747487" y="343644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GAMES / MO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2747487" y="3543121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~0.4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4630102" y="1041261"/>
            <a:ext cx="1913097" cy="3645039"/>
          </a:xfrm>
          <a:prstGeom prst="roundRect">
            <a:avLst>
              <a:gd fmla="val 3983" name="adj"/>
            </a:avLst>
          </a:prstGeom>
          <a:solidFill>
            <a:srgbClr val="FFFFFF"/>
          </a:solidFill>
          <a:ln cap="flat" cmpd="sng" w="15225">
            <a:solidFill>
              <a:srgbClr val="00BFC4"/>
            </a:solidFill>
            <a:prstDash val="solid"/>
            <a:round/>
            <a:headEnd len="sm" w="sm" type="none"/>
            <a:tailEnd len="sm" w="sm" type="none"/>
          </a:ln>
          <a:effectLst>
            <a:outerShdw blurRad="285750" rotWithShape="0" algn="bl" dir="5400000" dist="133350">
              <a:srgbClr val="00BFC4">
                <a:alpha val="50196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4637723" y="1048881"/>
            <a:ext cx="1897856" cy="38100"/>
          </a:xfrm>
          <a:prstGeom prst="rect">
            <a:avLst/>
          </a:prstGeom>
          <a:solidFill>
            <a:srgbClr val="00BFC4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780598" y="1229856"/>
            <a:ext cx="1773317" cy="16906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777B"/>
              </a:buClr>
              <a:buSzPts val="1100"/>
              <a:buFont typeface="Source Serif 4"/>
              <a:buNone/>
            </a:pPr>
            <a:r>
              <a:rPr b="1" i="0" lang="it" sz="1200" u="none" cap="none" strike="noStrike">
                <a:solidFill>
                  <a:srgbClr val="00777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Regular Players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4780598" y="1417975"/>
            <a:ext cx="1773317" cy="14097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3A8"/>
              </a:buClr>
              <a:buSzPts val="700"/>
              <a:buFont typeface="Source Sans 3"/>
              <a:buNone/>
            </a:pPr>
            <a:r>
              <a:rPr b="1" i="0" lang="it" sz="1100" u="none" cap="none" strike="noStrike">
                <a:solidFill>
                  <a:srgbClr val="00A3A8"/>
                </a:solidFill>
                <a:latin typeface="Source Sans 3"/>
                <a:ea typeface="Source Sans 3"/>
                <a:cs typeface="Source Sans 3"/>
                <a:sym typeface="Source Sans 3"/>
              </a:rPr>
              <a:t>14% of players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4780598" y="1654195"/>
            <a:ext cx="1612106" cy="4763"/>
          </a:xfrm>
          <a:prstGeom prst="rect">
            <a:avLst/>
          </a:prstGeom>
          <a:solidFill>
            <a:srgbClr val="D4F0F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4780598" y="253728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AGE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4780598" y="264396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~33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4780598" y="298686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RATING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4780598" y="309354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1689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4780598" y="343644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3A8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00A3A8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GAMES / MO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780598" y="3543121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3A8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00A3A8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6.6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667024" y="1041261"/>
            <a:ext cx="1905477" cy="3645039"/>
          </a:xfrm>
          <a:prstGeom prst="roundRect">
            <a:avLst>
              <a:gd fmla="val 3999" name="adj"/>
            </a:avLst>
          </a:prstGeom>
          <a:solidFill>
            <a:srgbClr val="FFFFFF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6670834" y="1045071"/>
            <a:ext cx="1897857" cy="38100"/>
          </a:xfrm>
          <a:prstGeom prst="rect">
            <a:avLst/>
          </a:prstGeom>
          <a:solidFill>
            <a:srgbClr val="C77CF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6813699" y="1226050"/>
            <a:ext cx="1897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2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Strong (Low-Activity)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813709" y="1414165"/>
            <a:ext cx="1773317" cy="14097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700"/>
              <a:buFont typeface="Source Sans 3"/>
              <a:buNone/>
            </a:pPr>
            <a:r>
              <a:rPr b="0" i="0" lang="it" sz="11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26% of players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6813709" y="1650385"/>
            <a:ext cx="1612107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813709" y="253728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AGE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6813709" y="264396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~49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813709" y="298686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RATING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6813709" y="3093542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2003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6813709" y="3436442"/>
            <a:ext cx="177331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9A92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AVG. GAMES / MO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6813709" y="3543121"/>
            <a:ext cx="177331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1800"/>
              <a:buFont typeface="Source Serif 4"/>
              <a:buNone/>
            </a:pPr>
            <a:r>
              <a:rPr b="1" i="0" lang="it" sz="18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~0.7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571500" y="4779645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571500" y="4850130"/>
            <a:ext cx="2045470" cy="121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8499157" y="4850130"/>
            <a:ext cx="111443" cy="121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08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781050" y="400050"/>
            <a:ext cx="99839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SEGMENTATION · 03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571500" y="590550"/>
            <a:ext cx="6573202" cy="5737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Cluster Graph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571500" y="1113550"/>
            <a:ext cx="4405200" cy="3291300"/>
          </a:xfrm>
          <a:prstGeom prst="roundRect">
            <a:avLst>
              <a:gd fmla="val 2268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8" name="Google Shape;25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94" y="1143403"/>
            <a:ext cx="4405313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1"/>
          <p:cNvSpPr/>
          <p:nvPr/>
        </p:nvSpPr>
        <p:spPr>
          <a:xfrm>
            <a:off x="5446705" y="1505823"/>
            <a:ext cx="146100" cy="146100"/>
          </a:xfrm>
          <a:prstGeom prst="roundRect">
            <a:avLst>
              <a:gd fmla="val 22222" name="adj"/>
            </a:avLst>
          </a:prstGeom>
          <a:solidFill>
            <a:srgbClr val="00BFC4"/>
          </a:solidFill>
          <a:ln>
            <a:noFill/>
          </a:ln>
        </p:spPr>
        <p:txBody>
          <a:bodyPr anchorCtr="0" anchor="ctr" bIns="78000" lIns="78000" spcFirstLastPara="1" rIns="78000" wrap="square" tIns="7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5706703" y="1444875"/>
            <a:ext cx="25902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1675" lIns="21675" spcFirstLastPara="1" rIns="21675" wrap="square" tIns="21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535"/>
              <a:buFont typeface="Source Serif 4"/>
              <a:buNone/>
            </a:pPr>
            <a:r>
              <a:rPr b="1" i="0" lang="it" sz="1535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Tournament Regulars</a:t>
            </a:r>
            <a:endParaRPr b="0" i="0" sz="153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5446705" y="1924256"/>
            <a:ext cx="3180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1675" lIns="21675" spcFirstLastPara="1" rIns="21675" wrap="square" tIns="2167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1365"/>
              <a:buFont typeface="Source Sans 3"/>
              <a:buNone/>
            </a:pPr>
            <a:r>
              <a:rPr b="0" i="0" lang="it" sz="1365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Cluster 3 drops to roughly </a:t>
            </a:r>
            <a:r>
              <a:rPr b="1" i="0" lang="it" sz="1365" u="none" cap="none" strike="noStrike">
                <a:solidFill>
                  <a:srgbClr val="1D1A1B"/>
                </a:solidFill>
                <a:latin typeface="Source Sans 3"/>
                <a:ea typeface="Source Sans 3"/>
                <a:cs typeface="Source Sans 3"/>
                <a:sym typeface="Source Sans 3"/>
              </a:rPr>
              <a:t>2.5% </a:t>
            </a:r>
            <a:r>
              <a:rPr b="0" i="0" lang="it" sz="1365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of active players during COVID — then rebounds afterward.</a:t>
            </a:r>
            <a:endParaRPr b="0" i="0" sz="136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5446705" y="2903308"/>
            <a:ext cx="3087600" cy="81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78000" lIns="78000" spcFirstLastPara="1" rIns="78000" wrap="square" tIns="7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5446705" y="3122681"/>
            <a:ext cx="31800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1675" lIns="21675" spcFirstLastPara="1" rIns="21675" wrap="square" tIns="2167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1365"/>
              <a:buFont typeface="Source Sans 3"/>
              <a:buNone/>
            </a:pPr>
            <a:r>
              <a:rPr b="0" i="0" lang="it" sz="1365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other three segments keep nearly the same share across all three periods.</a:t>
            </a:r>
            <a:endParaRPr b="0" i="0" sz="136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09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/>
          <p:nvPr/>
        </p:nvSpPr>
        <p:spPr>
          <a:xfrm>
            <a:off x="571500" y="445294"/>
            <a:ext cx="142800" cy="144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781050" y="400050"/>
            <a:ext cx="9984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SEGMENTATION · 04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571500" y="590550"/>
            <a:ext cx="65733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lang="it" sz="2000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A</a:t>
            </a: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re Clusters independent o</a:t>
            </a:r>
            <a:r>
              <a:rPr b="1" lang="it" sz="2000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f</a:t>
            </a: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 period?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571500" y="4781550"/>
            <a:ext cx="80010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571500" y="4852988"/>
            <a:ext cx="20454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8499202" y="4852988"/>
            <a:ext cx="11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10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8" name="Google Shape;278;p12"/>
          <p:cNvGraphicFramePr/>
          <p:nvPr/>
        </p:nvGraphicFramePr>
        <p:xfrm>
          <a:off x="576072" y="130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{7B364D26-3159-4C88-82EE-A8885B4C7EFD}</a:tableStyleId>
              </a:tblPr>
              <a:tblGrid>
                <a:gridCol w="1371600"/>
                <a:gridCol w="1655075"/>
                <a:gridCol w="1655075"/>
                <a:gridCol w="1655075"/>
                <a:gridCol w="1655075"/>
              </a:tblGrid>
              <a:tr h="3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Period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Young (L.A.)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Seniors (L.A.)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Regulars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it" sz="1100" u="none" cap="none" strike="noStrike">
                          <a:solidFill>
                            <a:srgbClr val="FFFFFF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Strong (L.A.)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A1E2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A1E2D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i="0" lang="it" sz="115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Pre-Covid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103,225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30.7%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86,535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25.7%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65,903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19.6%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81,084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24.1%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i="0" lang="it" sz="115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129,812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38.3%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105,625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31.1%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8,331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2.5%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95,555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28.2%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i="0" lang="it" sz="115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Post-Covid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111,208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30.5%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95,141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26.1%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66,879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18.3%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it" sz="1300" u="none" cap="none" strike="noStrike">
                          <a:solidFill>
                            <a:srgbClr val="1D1A1B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91,246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0" i="0" lang="it" sz="1000" u="none" cap="none" strike="noStrike">
                          <a:solidFill>
                            <a:srgbClr val="8A6A6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25.0%</a:t>
                      </a:r>
                      <a:endParaRPr/>
                    </a:p>
                  </a:txBody>
                  <a:tcPr marT="27425" marB="27425" marR="45725" marL="45725" anchor="ctr">
                    <a:lnL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4DE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Google Shape;279;p12"/>
          <p:cNvSpPr txBox="1"/>
          <p:nvPr/>
        </p:nvSpPr>
        <p:spPr>
          <a:xfrm>
            <a:off x="7492100" y="1069975"/>
            <a:ext cx="1118400" cy="3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it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LA-low activity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576072" y="3070000"/>
            <a:ext cx="3850000" cy="1520000"/>
          </a:xfrm>
          <a:prstGeom prst="roundRect">
            <a:avLst>
              <a:gd fmla="val 7000" name="adj"/>
            </a:avLst>
          </a:prstGeom>
          <a:solidFill>
            <a:srgbClr val="FAF6F5"/>
          </a:solidFill>
          <a:ln cap="flat" cmpd="sng" w="12700">
            <a:solidFill>
              <a:srgbClr val="EFE3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37150" spcFirstLastPara="1" rIns="137150" wrap="square" tIns="91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it" sz="850" u="none" cap="none" strike="noStrike">
                <a:solidFill>
                  <a:srgbClr val="9A8E8C"/>
                </a:solidFill>
                <a:latin typeface="Source Sans 3"/>
                <a:ea typeface="Source Sans 3"/>
                <a:cs typeface="Source Sans 3"/>
                <a:sym typeface="Source Sans 3"/>
              </a:rPr>
              <a:t>PEARSON’S CHI-SQUARED TEST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it" sz="19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χ² = 53,535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it" sz="1100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df = 6      ·      p-value &lt; .001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5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it" sz="1050" u="none" cap="none" strike="noStrike">
                <a:solidFill>
                  <a:srgbClr val="1D1A1B"/>
                </a:solidFill>
                <a:latin typeface="Source Sans 3"/>
                <a:ea typeface="Source Sans 3"/>
                <a:cs typeface="Source Sans 3"/>
                <a:sym typeface="Source Sans 3"/>
              </a:rPr>
              <a:t>Cramer’s V = 0.16</a:t>
            </a:r>
            <a:r>
              <a:rPr b="0" i="0" lang="it" sz="1050" u="none" cap="none" strike="noStrike">
                <a:solidFill>
                  <a:srgbClr val="9A8E8C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·   weak association</a:t>
            </a:r>
            <a:endParaRPr/>
          </a:p>
        </p:txBody>
      </p:sp>
      <p:sp>
        <p:nvSpPr>
          <p:cNvPr id="281" name="Google Shape;281;p12"/>
          <p:cNvSpPr/>
          <p:nvPr/>
        </p:nvSpPr>
        <p:spPr>
          <a:xfrm>
            <a:off x="713232" y="4390000"/>
            <a:ext cx="3575680" cy="82000"/>
          </a:xfrm>
          <a:prstGeom prst="roundRect">
            <a:avLst>
              <a:gd fmla="val 50000" name="adj"/>
            </a:avLst>
          </a:prstGeom>
          <a:solidFill>
            <a:srgbClr val="EBDF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713232" y="4390000"/>
            <a:ext cx="573539" cy="82000"/>
          </a:xfrm>
          <a:prstGeom prst="roundRect">
            <a:avLst>
              <a:gd fmla="val 50000" name="adj"/>
            </a:avLst>
          </a:prstGeom>
          <a:solidFill>
            <a:srgbClr val="8A1E2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4576072" y="3070000"/>
            <a:ext cx="3991856" cy="1520000"/>
          </a:xfrm>
          <a:prstGeom prst="roundRect">
            <a:avLst>
              <a:gd fmla="val 7000" name="adj"/>
            </a:avLst>
          </a:prstGeom>
          <a:solidFill>
            <a:srgbClr val="FCFBFB"/>
          </a:solidFill>
          <a:ln cap="flat" cmpd="sng" w="12700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37150" spcFirstLastPara="1" rIns="137150" wrap="square" tIns="91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it" sz="1150" u="none" cap="none" strike="noStrike">
                <a:solidFill>
                  <a:srgbClr val="9A8E8C"/>
                </a:solidFill>
                <a:latin typeface="Source Sans 3"/>
                <a:ea typeface="Source Sans 3"/>
                <a:cs typeface="Source Sans 3"/>
                <a:sym typeface="Source Sans 3"/>
              </a:rPr>
              <a:t>INTERPRETATION</a:t>
            </a:r>
            <a:endParaRPr sz="1700"/>
          </a:p>
          <a:p>
            <a:pPr indent="0" lvl="0" marL="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it" sz="1250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Period and cluster membership are significantly associated (p &lt; 0.001), but with a weak effect (Cramer’s V = 0.16).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3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781050" y="400050"/>
            <a:ext cx="6282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FINDING · 02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571500" y="590550"/>
            <a:ext cx="6573202" cy="5737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Growth of Active Players since 2015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571500" y="1113550"/>
            <a:ext cx="4218900" cy="3082800"/>
          </a:xfrm>
          <a:prstGeom prst="roundRect">
            <a:avLst>
              <a:gd fmla="val 2268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93" name="Google Shape;29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" y="1186212"/>
            <a:ext cx="4152214" cy="30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3"/>
          <p:cNvSpPr/>
          <p:nvPr/>
        </p:nvSpPr>
        <p:spPr>
          <a:xfrm>
            <a:off x="5459925" y="1301880"/>
            <a:ext cx="1239000" cy="4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2471"/>
              <a:buFont typeface="Source Serif 4"/>
              <a:buNone/>
            </a:pPr>
            <a:r>
              <a:rPr b="1" i="0" lang="it" sz="2471" u="none" cap="none" strike="noStrike">
                <a:solidFill>
                  <a:srgbClr val="9A929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115,546</a:t>
            </a:r>
            <a:endParaRPr b="0" i="0" sz="247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6711699" y="1443090"/>
            <a:ext cx="2352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318"/>
              <a:buFont typeface="Source Serif 4"/>
              <a:buNone/>
            </a:pPr>
            <a:r>
              <a:rPr b="1" i="0" lang="it" sz="1318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31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7009811" y="1231275"/>
            <a:ext cx="14868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965"/>
              <a:buFont typeface="Source Serif 4"/>
              <a:buNone/>
            </a:pPr>
            <a:r>
              <a:rPr b="1" i="0" lang="it" sz="2965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217,459</a:t>
            </a:r>
            <a:endParaRPr b="0" i="0" sz="296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5459925" y="1843186"/>
            <a:ext cx="3279600" cy="2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1153"/>
              <a:buFont typeface="Source Sans 3"/>
              <a:buNone/>
            </a:pPr>
            <a:r>
              <a:rPr b="0" i="0" lang="it" sz="1153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active players, 2015 → 2026</a:t>
            </a:r>
            <a:endParaRPr b="0" i="0" sz="115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5459925" y="2306042"/>
            <a:ext cx="2980800" cy="81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75325" lIns="75325" spcFirstLastPara="1" rIns="75325" wrap="square" tIns="753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5459925" y="2580617"/>
            <a:ext cx="3279600" cy="4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3459"/>
              <a:buFont typeface="Source Serif 4"/>
              <a:buNone/>
            </a:pPr>
            <a:r>
              <a:rPr b="1" i="0" lang="it" sz="3459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 88%</a:t>
            </a:r>
            <a:endParaRPr b="0" i="0" sz="34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459925" y="3082698"/>
            <a:ext cx="3279600" cy="2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1153"/>
              <a:buFont typeface="Source Sans 3"/>
              <a:buNone/>
            </a:pPr>
            <a:r>
              <a:rPr b="0" i="0" lang="it" sz="1153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growth since 2015, even through the COVID dip</a:t>
            </a:r>
            <a:endParaRPr b="0" i="0" sz="115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5459925" y="3426924"/>
            <a:ext cx="30705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20925" lIns="20925" spcFirstLastPara="1" rIns="20925" wrap="square" tIns="209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1153"/>
              <a:buFont typeface="Source Sans 3"/>
              <a:buNone/>
            </a:pPr>
            <a:r>
              <a:rPr b="0" i="0" lang="it" sz="1153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Active players </a:t>
            </a:r>
            <a:r>
              <a:rPr lang="it" sz="1153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means only one tournament game per year</a:t>
            </a:r>
            <a:r>
              <a:rPr b="0" i="0" lang="it" sz="1153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. (Fide Handbook)</a:t>
            </a:r>
            <a:endParaRPr b="0" i="0" sz="115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8499202" y="4852988"/>
            <a:ext cx="111398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11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4"/>
          <p:cNvSpPr/>
          <p:nvPr/>
        </p:nvSpPr>
        <p:spPr>
          <a:xfrm>
            <a:off x="571500" y="445294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4"/>
          <p:cNvSpPr/>
          <p:nvPr/>
        </p:nvSpPr>
        <p:spPr>
          <a:xfrm>
            <a:off x="781050" y="400050"/>
            <a:ext cx="628055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FINDING · 03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4"/>
          <p:cNvSpPr/>
          <p:nvPr/>
        </p:nvSpPr>
        <p:spPr>
          <a:xfrm>
            <a:off x="571500" y="590550"/>
            <a:ext cx="7869600" cy="5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000"/>
              <a:buFont typeface="Source Serif 4"/>
              <a:buNone/>
            </a:pPr>
            <a:r>
              <a:rPr b="1" i="0" lang="it" sz="20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Player Rating Distribution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4"/>
          <p:cNvSpPr/>
          <p:nvPr/>
        </p:nvSpPr>
        <p:spPr>
          <a:xfrm>
            <a:off x="571500" y="1113550"/>
            <a:ext cx="4473900" cy="3043200"/>
          </a:xfrm>
          <a:prstGeom prst="roundRect">
            <a:avLst>
              <a:gd fmla="val 2181" name="adj"/>
            </a:avLst>
          </a:prstGeom>
          <a:solidFill>
            <a:srgbClr val="FCFBFB"/>
          </a:solidFill>
          <a:ln cap="flat" cmpd="sng" w="9525">
            <a:solidFill>
              <a:srgbClr val="ECE8E7"/>
            </a:solidFill>
            <a:prstDash val="solid"/>
            <a:round/>
            <a:headEnd len="sm" w="sm" type="none"/>
            <a:tailEnd len="sm" w="sm" type="none"/>
          </a:ln>
          <a:effectLst>
            <a:outerShdw blurRad="342900" rotWithShape="0" algn="bl" dir="5400000" dist="152400">
              <a:srgbClr val="000000">
                <a:alpha val="40000"/>
              </a:srgbClr>
            </a:outerShdw>
          </a:effectLst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4"/>
          <p:cNvSpPr/>
          <p:nvPr/>
        </p:nvSpPr>
        <p:spPr>
          <a:xfrm>
            <a:off x="5720925" y="1164149"/>
            <a:ext cx="7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2582"/>
              <a:buFont typeface="Source Serif 4"/>
              <a:buNone/>
            </a:pPr>
            <a:r>
              <a:rPr b="1" i="0" lang="it" sz="2582" u="none" cap="none" strike="noStrike">
                <a:solidFill>
                  <a:srgbClr val="9A929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1799</a:t>
            </a:r>
            <a:endParaRPr b="0" i="0" sz="258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6564714" y="1344977"/>
            <a:ext cx="2169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215"/>
              <a:buFont typeface="Source Serif 4"/>
              <a:buNone/>
            </a:pPr>
            <a:r>
              <a:rPr b="1" i="0" lang="it" sz="1215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2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4"/>
          <p:cNvSpPr/>
          <p:nvPr/>
        </p:nvSpPr>
        <p:spPr>
          <a:xfrm>
            <a:off x="6839572" y="1164149"/>
            <a:ext cx="7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582"/>
              <a:buFont typeface="Source Serif 4"/>
              <a:buNone/>
            </a:pPr>
            <a:r>
              <a:rPr b="1" i="0" lang="it" sz="2582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1737</a:t>
            </a:r>
            <a:endParaRPr b="0" i="0" sz="258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4"/>
          <p:cNvSpPr/>
          <p:nvPr/>
        </p:nvSpPr>
        <p:spPr>
          <a:xfrm>
            <a:off x="5720925" y="1677700"/>
            <a:ext cx="29280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1063"/>
              <a:buFont typeface="Source Sans 3"/>
              <a:buNone/>
            </a:pPr>
            <a:r>
              <a:rPr b="0" i="0" lang="it" sz="1063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mean rating, 2015 → 2026 · SD (310 vs 224)</a:t>
            </a:r>
            <a:endParaRPr b="0" i="0" sz="1063" u="none" cap="none" strike="noStrike">
              <a:solidFill>
                <a:srgbClr val="6B6360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1063"/>
              <a:buFont typeface="Source Sans 3"/>
              <a:buNone/>
            </a:pPr>
            <a:r>
              <a:t/>
            </a:r>
            <a:endParaRPr b="0" i="0" sz="10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5720925" y="2061054"/>
            <a:ext cx="2661900" cy="72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69450" lIns="69450" spcFirstLastPara="1" rIns="69450" wrap="square" tIns="69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26"/>
              <a:buFont typeface="Arial"/>
              <a:buNone/>
            </a:pPr>
            <a:r>
              <a:t/>
            </a:r>
            <a:endParaRPr b="0" i="0" sz="21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5720925" y="2270831"/>
            <a:ext cx="10608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290"/>
              </a:buClr>
              <a:buSzPts val="1974"/>
              <a:buFont typeface="Source Serif 4"/>
              <a:buNone/>
            </a:pPr>
            <a:r>
              <a:rPr b="1" i="0" lang="it" sz="1974" u="none" cap="none" strike="noStrike">
                <a:solidFill>
                  <a:srgbClr val="9A929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115,546</a:t>
            </a:r>
            <a:endParaRPr b="0" i="0" sz="197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6719322" y="2372077"/>
            <a:ext cx="2028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0A7"/>
              </a:buClr>
              <a:buSzPts val="1215"/>
              <a:buFont typeface="Source Serif 4"/>
              <a:buNone/>
            </a:pPr>
            <a:r>
              <a:rPr b="1" i="0" lang="it" sz="1215" u="none" cap="none" strike="noStrike">
                <a:solidFill>
                  <a:srgbClr val="C9A0A7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→</a:t>
            </a:r>
            <a:endParaRPr b="0" i="0" sz="12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6979716" y="2270831"/>
            <a:ext cx="10608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974"/>
              <a:buFont typeface="Source Serif 4"/>
              <a:buNone/>
            </a:pPr>
            <a:r>
              <a:rPr b="1" i="0" lang="it" sz="1974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217,459</a:t>
            </a:r>
            <a:endParaRPr b="0" i="0" sz="197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5720925" y="2661401"/>
            <a:ext cx="29280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360"/>
              </a:buClr>
              <a:buSzPts val="1063"/>
              <a:buFont typeface="Source Sans 3"/>
              <a:buNone/>
            </a:pPr>
            <a:r>
              <a:rPr b="0" i="0" lang="it" sz="1063" u="none" cap="none" strike="noStrike">
                <a:solidFill>
                  <a:srgbClr val="6B6360"/>
                </a:solidFill>
                <a:latin typeface="Source Sans 3"/>
                <a:ea typeface="Source Sans 3"/>
                <a:cs typeface="Source Sans 3"/>
                <a:sym typeface="Source Sans 3"/>
              </a:rPr>
              <a:t>active pool nearly doubled</a:t>
            </a:r>
            <a:endParaRPr b="0" i="0" sz="10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5720925" y="3044756"/>
            <a:ext cx="2741400" cy="4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9300" lIns="19300" spcFirstLastPara="1" rIns="19300" wrap="square" tIns="193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1215"/>
              <a:buFont typeface="Source Sans 3"/>
              <a:buNone/>
            </a:pPr>
            <a:r>
              <a:rPr b="0" i="0" lang="it" sz="1215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New, lower-rated players now make up a larger share of the pool.</a:t>
            </a:r>
            <a:endParaRPr b="0" i="0" sz="12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71500" y="4781550"/>
            <a:ext cx="8001000" cy="4763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571500" y="4852988"/>
            <a:ext cx="2045487" cy="1190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8499202" y="4852988"/>
            <a:ext cx="1113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12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7" name="Google Shape;327;p14" title="standarddis.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151600"/>
            <a:ext cx="4473775" cy="300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5"/>
          <p:cNvSpPr/>
          <p:nvPr/>
        </p:nvSpPr>
        <p:spPr>
          <a:xfrm>
            <a:off x="571500" y="446247"/>
            <a:ext cx="142875" cy="14288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5"/>
          <p:cNvSpPr/>
          <p:nvPr/>
        </p:nvSpPr>
        <p:spPr>
          <a:xfrm>
            <a:off x="781050" y="400050"/>
            <a:ext cx="70978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lang="it" sz="600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INTERPRETATIONS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5"/>
          <p:cNvSpPr/>
          <p:nvPr/>
        </p:nvSpPr>
        <p:spPr>
          <a:xfrm>
            <a:off x="571500" y="592455"/>
            <a:ext cx="8801100" cy="3124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2100"/>
              <a:buFont typeface="Source Serif 4"/>
              <a:buNone/>
            </a:pPr>
            <a:r>
              <a:rPr b="1" i="0" lang="it" sz="21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Conclusion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5"/>
          <p:cNvSpPr/>
          <p:nvPr/>
        </p:nvSpPr>
        <p:spPr>
          <a:xfrm>
            <a:off x="547925" y="1317067"/>
            <a:ext cx="2571900" cy="1494600"/>
          </a:xfrm>
          <a:prstGeom prst="roundRect">
            <a:avLst>
              <a:gd fmla="val 5099" name="adj"/>
            </a:avLst>
          </a:prstGeom>
          <a:solidFill>
            <a:srgbClr val="FCFBF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5"/>
          <p:cNvSpPr/>
          <p:nvPr/>
        </p:nvSpPr>
        <p:spPr>
          <a:xfrm>
            <a:off x="547925" y="2807729"/>
            <a:ext cx="25719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5"/>
          <p:cNvSpPr/>
          <p:nvPr/>
        </p:nvSpPr>
        <p:spPr>
          <a:xfrm>
            <a:off x="547925" y="1317067"/>
            <a:ext cx="2571900" cy="267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5"/>
          <p:cNvSpPr/>
          <p:nvPr/>
        </p:nvSpPr>
        <p:spPr>
          <a:xfrm>
            <a:off x="547925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5"/>
          <p:cNvSpPr/>
          <p:nvPr/>
        </p:nvSpPr>
        <p:spPr>
          <a:xfrm>
            <a:off x="3115865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5"/>
          <p:cNvSpPr/>
          <p:nvPr/>
        </p:nvSpPr>
        <p:spPr>
          <a:xfrm>
            <a:off x="723185" y="1524711"/>
            <a:ext cx="2443500" cy="1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700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01 · PARTICIPATION</a:t>
            </a:r>
            <a:endParaRPr b="1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723185" y="1725689"/>
            <a:ext cx="2443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100"/>
              <a:buFont typeface="Source Serif 4"/>
              <a:buNone/>
            </a:pPr>
            <a:r>
              <a:rPr b="1" i="0" lang="it" sz="21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−⅓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723185" y="2063827"/>
            <a:ext cx="24435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1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32% → 4% → 24%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5"/>
          <p:cNvSpPr/>
          <p:nvPr/>
        </p:nvSpPr>
        <p:spPr>
          <a:xfrm>
            <a:off x="723185" y="2306714"/>
            <a:ext cx="22878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00"/>
              <a:buFont typeface="Source Sans 3"/>
              <a:buNone/>
            </a:pPr>
            <a:r>
              <a:rPr b="0" i="0" lang="it" sz="1100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Collapsed during COVID, only partly back by 2026.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5"/>
          <p:cNvSpPr/>
          <p:nvPr/>
        </p:nvSpPr>
        <p:spPr>
          <a:xfrm>
            <a:off x="3262550" y="1317067"/>
            <a:ext cx="2571900" cy="1494600"/>
          </a:xfrm>
          <a:prstGeom prst="roundRect">
            <a:avLst>
              <a:gd fmla="val 5099" name="adj"/>
            </a:avLst>
          </a:prstGeom>
          <a:solidFill>
            <a:srgbClr val="FCFBF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5"/>
          <p:cNvSpPr/>
          <p:nvPr/>
        </p:nvSpPr>
        <p:spPr>
          <a:xfrm>
            <a:off x="3262550" y="2807729"/>
            <a:ext cx="25719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5"/>
          <p:cNvSpPr/>
          <p:nvPr/>
        </p:nvSpPr>
        <p:spPr>
          <a:xfrm>
            <a:off x="3262550" y="1317067"/>
            <a:ext cx="2571900" cy="267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5"/>
          <p:cNvSpPr/>
          <p:nvPr/>
        </p:nvSpPr>
        <p:spPr>
          <a:xfrm>
            <a:off x="3262550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5"/>
          <p:cNvSpPr/>
          <p:nvPr/>
        </p:nvSpPr>
        <p:spPr>
          <a:xfrm>
            <a:off x="5830490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5"/>
          <p:cNvSpPr/>
          <p:nvPr/>
        </p:nvSpPr>
        <p:spPr>
          <a:xfrm>
            <a:off x="3437810" y="1524711"/>
            <a:ext cx="2443500" cy="1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700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02 · POOL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5"/>
          <p:cNvSpPr/>
          <p:nvPr/>
        </p:nvSpPr>
        <p:spPr>
          <a:xfrm>
            <a:off x="3437873" y="1725689"/>
            <a:ext cx="2443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100"/>
              <a:buFont typeface="Source Serif 4"/>
              <a:buNone/>
            </a:pPr>
            <a:r>
              <a:rPr b="1" i="0" lang="it" sz="21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×2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5"/>
          <p:cNvSpPr/>
          <p:nvPr/>
        </p:nvSpPr>
        <p:spPr>
          <a:xfrm>
            <a:off x="3437810" y="2063827"/>
            <a:ext cx="24435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1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116k → 217k players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3437810" y="2306714"/>
            <a:ext cx="22878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00"/>
              <a:buFont typeface="Source Sans 3"/>
              <a:buNone/>
            </a:pPr>
            <a:r>
              <a:rPr lang="it" sz="1100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New rated players as chess grew</a:t>
            </a:r>
            <a:r>
              <a:rPr b="0" i="0" lang="it" sz="1100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, but average rating fell (1799 → 1737).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5977175" y="1317067"/>
            <a:ext cx="2571900" cy="1494600"/>
          </a:xfrm>
          <a:prstGeom prst="roundRect">
            <a:avLst>
              <a:gd fmla="val 5099" name="adj"/>
            </a:avLst>
          </a:prstGeom>
          <a:solidFill>
            <a:srgbClr val="FCFBF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5977175" y="2807729"/>
            <a:ext cx="2571900" cy="48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5977175" y="1317067"/>
            <a:ext cx="2571900" cy="26700"/>
          </a:xfrm>
          <a:prstGeom prst="rect">
            <a:avLst/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977175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8545115" y="1317067"/>
            <a:ext cx="4800" cy="1494600"/>
          </a:xfrm>
          <a:prstGeom prst="rect">
            <a:avLst/>
          </a:prstGeom>
          <a:solidFill>
            <a:srgbClr val="ECE8E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6152435" y="1524711"/>
            <a:ext cx="2443500" cy="1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700"/>
              <a:buFont typeface="Source Sans 3"/>
              <a:buNone/>
            </a:pPr>
            <a:r>
              <a:rPr b="1" i="0" lang="it" sz="10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03 · Clusters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6152585" y="1725602"/>
            <a:ext cx="2443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2100"/>
              <a:buFont typeface="Source Serif 4"/>
              <a:buNone/>
            </a:pPr>
            <a:r>
              <a:rPr b="1" i="0" lang="it" sz="2100" u="none" cap="none" strike="noStrike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86% </a:t>
            </a:r>
            <a:r>
              <a:rPr b="1" lang="it" sz="2100">
                <a:solidFill>
                  <a:srgbClr val="8A1E2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In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6152435" y="2063827"/>
            <a:ext cx="24435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100"/>
              <a:buFont typeface="Source Serif 4"/>
              <a:buNone/>
            </a:pPr>
            <a:r>
              <a:rPr b="1" i="0" lang="it" sz="1100" u="none" cap="none" strike="noStrike">
                <a:solidFill>
                  <a:srgbClr val="1D1A1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Low Activity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6152425" y="2306740"/>
            <a:ext cx="24435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00"/>
              <a:buFont typeface="Source Sans 3"/>
              <a:buNone/>
            </a:pPr>
            <a:r>
              <a:rPr b="0" i="0" lang="it" sz="1100" u="none" cap="none" strike="noStrike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Only 14% </a:t>
            </a:r>
            <a:r>
              <a:rPr lang="it" sz="1100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play tournaments </a:t>
            </a:r>
            <a:endParaRPr sz="1100">
              <a:solidFill>
                <a:srgbClr val="3A3536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A3536"/>
              </a:buClr>
              <a:buSzPts val="900"/>
              <a:buFont typeface="Source Sans 3"/>
              <a:buNone/>
            </a:pPr>
            <a:r>
              <a:rPr lang="it" sz="1100">
                <a:solidFill>
                  <a:srgbClr val="3A3536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month.</a:t>
            </a:r>
            <a:endParaRPr b="0" i="0" sz="1100" u="none" cap="none" strike="noStrike">
              <a:solidFill>
                <a:srgbClr val="3A3536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571500" y="3224689"/>
            <a:ext cx="8001000" cy="845820"/>
          </a:xfrm>
          <a:prstGeom prst="roundRect">
            <a:avLst>
              <a:gd fmla="val 10135" name="adj"/>
            </a:avLst>
          </a:prstGeom>
          <a:solidFill>
            <a:srgbClr val="8A1E2D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714375" y="3285000"/>
            <a:ext cx="13953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9C2C8"/>
              </a:buClr>
              <a:buSzPts val="700"/>
              <a:buFont typeface="Source Sans 3"/>
              <a:buNone/>
            </a:pPr>
            <a:r>
              <a:rPr b="1" i="0" lang="it" sz="10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BOTTOM 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714375" y="3449425"/>
            <a:ext cx="78273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ource Serif 4"/>
              <a:buNone/>
            </a:pPr>
            <a:r>
              <a:rPr b="0" i="0" lang="it" sz="15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OTB Chess grew in </a:t>
            </a:r>
            <a:r>
              <a:rPr b="0" i="1" lang="it" sz="15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size</a:t>
            </a:r>
            <a:r>
              <a:rPr b="0" i="0" lang="it" sz="15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, not in </a:t>
            </a:r>
            <a:r>
              <a:rPr b="0" i="1" lang="it" sz="15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engagement </a:t>
            </a:r>
            <a:r>
              <a:rPr b="0" i="0" lang="it" sz="15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— the post-COVID base is larger and more casual than before.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571500" y="4850130"/>
            <a:ext cx="2045470" cy="121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9C9A"/>
              </a:buClr>
              <a:buSzPts val="600"/>
              <a:buFont typeface="Source Sans 3"/>
              <a:buNone/>
            </a:pPr>
            <a:r>
              <a:rPr b="0" i="0" lang="it" sz="600" u="none" cap="none" strike="noStrike">
                <a:solidFill>
                  <a:srgbClr val="A59C9A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over-the-board chess recover after COVID-19? — Honi Arora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8499157" y="4850130"/>
            <a:ext cx="111443" cy="121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1E2D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8A1E2D"/>
                </a:solidFill>
                <a:latin typeface="Source Sans 3"/>
                <a:ea typeface="Source Sans 3"/>
                <a:cs typeface="Source Sans 3"/>
                <a:sym typeface="Source Sans 3"/>
              </a:rPr>
              <a:t>13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A1E2D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"/>
          <p:cNvSpPr/>
          <p:nvPr/>
        </p:nvSpPr>
        <p:spPr>
          <a:xfrm>
            <a:off x="571500" y="1923604"/>
            <a:ext cx="161925" cy="14288"/>
          </a:xfrm>
          <a:prstGeom prst="rect">
            <a:avLst/>
          </a:prstGeom>
          <a:solidFill>
            <a:srgbClr val="E9C2C8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6"/>
          <p:cNvSpPr/>
          <p:nvPr/>
        </p:nvSpPr>
        <p:spPr>
          <a:xfrm>
            <a:off x="800100" y="1878360"/>
            <a:ext cx="1867860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2C8"/>
              </a:buClr>
              <a:buSzPts val="600"/>
              <a:buFont typeface="Source Sans 3"/>
              <a:buNone/>
            </a:pPr>
            <a:r>
              <a:rPr b="1" i="0" lang="it" sz="6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DATA MANAGEMENT &amp; ANALYSIS · U2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6"/>
          <p:cNvSpPr/>
          <p:nvPr/>
        </p:nvSpPr>
        <p:spPr>
          <a:xfrm>
            <a:off x="571500" y="2126010"/>
            <a:ext cx="8801100" cy="43904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Source Serif 4"/>
              <a:buNone/>
            </a:pPr>
            <a:r>
              <a:rPr b="1" i="0" lang="it" sz="3200" u="none" cap="none" strike="noStrike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Thank you for the attention.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6"/>
          <p:cNvSpPr/>
          <p:nvPr/>
        </p:nvSpPr>
        <p:spPr>
          <a:xfrm>
            <a:off x="571500" y="2755553"/>
            <a:ext cx="571500" cy="9525"/>
          </a:xfrm>
          <a:prstGeom prst="rect">
            <a:avLst/>
          </a:prstGeom>
          <a:solidFill>
            <a:srgbClr val="FFFFFF">
              <a:alpha val="34901"/>
            </a:srgbClr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6"/>
          <p:cNvSpPr/>
          <p:nvPr/>
        </p:nvSpPr>
        <p:spPr>
          <a:xfrm>
            <a:off x="571500" y="2927003"/>
            <a:ext cx="880110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ource Sans 3"/>
              <a:buNone/>
            </a:pPr>
            <a:r>
              <a:rPr b="1" i="0" lang="it" sz="9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Honi Arora </a:t>
            </a:r>
            <a:r>
              <a:rPr b="0" i="0" lang="it" sz="9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· FIDE Master · 2162860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6"/>
          <p:cNvSpPr/>
          <p:nvPr/>
        </p:nvSpPr>
        <p:spPr>
          <a:xfrm>
            <a:off x="571500" y="3131790"/>
            <a:ext cx="88011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2C8"/>
              </a:buClr>
              <a:buSzPts val="800"/>
              <a:buFont typeface="Source Sans 3"/>
              <a:buNone/>
            </a:pPr>
            <a:r>
              <a:rPr b="0" i="0" lang="it" sz="800" u="none" cap="none" strike="noStrike">
                <a:solidFill>
                  <a:srgbClr val="E9C2C8"/>
                </a:solidFill>
                <a:latin typeface="Source Sans 3"/>
                <a:ea typeface="Source Sans 3"/>
                <a:cs typeface="Source Sans 3"/>
                <a:sym typeface="Source Sans 3"/>
              </a:rPr>
              <a:t>Sapienza University of Rome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